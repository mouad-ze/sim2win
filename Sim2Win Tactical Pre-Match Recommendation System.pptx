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299" r:id="rId3"/>
    <p:sldId id="257" r:id="rId4"/>
    <p:sldId id="258" r:id="rId5"/>
    <p:sldId id="279" r:id="rId6"/>
    <p:sldId id="280" r:id="rId7"/>
    <p:sldId id="281" r:id="rId8"/>
    <p:sldId id="282" r:id="rId9"/>
    <p:sldId id="283" r:id="rId10"/>
    <p:sldId id="270" r:id="rId11"/>
    <p:sldId id="259" r:id="rId12"/>
    <p:sldId id="260" r:id="rId13"/>
    <p:sldId id="261" r:id="rId14"/>
    <p:sldId id="262" r:id="rId15"/>
    <p:sldId id="284" r:id="rId16"/>
    <p:sldId id="286" r:id="rId17"/>
    <p:sldId id="290" r:id="rId18"/>
    <p:sldId id="263" r:id="rId19"/>
    <p:sldId id="293" r:id="rId20"/>
    <p:sldId id="264" r:id="rId21"/>
    <p:sldId id="292" r:id="rId22"/>
    <p:sldId id="294" r:id="rId23"/>
    <p:sldId id="295" r:id="rId24"/>
    <p:sldId id="265" r:id="rId25"/>
    <p:sldId id="296" r:id="rId26"/>
    <p:sldId id="266" r:id="rId27"/>
    <p:sldId id="297" r:id="rId28"/>
    <p:sldId id="267" r:id="rId29"/>
    <p:sldId id="289" r:id="rId30"/>
    <p:sldId id="276" r:id="rId31"/>
    <p:sldId id="273" r:id="rId32"/>
    <p:sldId id="275" r:id="rId33"/>
    <p:sldId id="278" r:id="rId34"/>
  </p:sldIdLst>
  <p:sldSz cx="18288000" cy="10287000"/>
  <p:notesSz cx="6858000" cy="9144000"/>
  <p:embeddedFontLst>
    <p:embeddedFont>
      <p:font typeface="Proxima Nova" panose="020B0604020202020204" charset="0"/>
      <p:regular r:id="rId36"/>
    </p:embeddedFont>
    <p:embeddedFont>
      <p:font typeface="Proxima Nova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8" autoAdjust="0"/>
    <p:restoredTop sz="94622" autoAdjust="0"/>
  </p:normalViewPr>
  <p:slideViewPr>
    <p:cSldViewPr>
      <p:cViewPr>
        <p:scale>
          <a:sx n="33" d="100"/>
          <a:sy n="33" d="100"/>
        </p:scale>
        <p:origin x="1164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6074F-7DAA-490D-BF4B-C136205CDD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11977-1406-4FC8-8A68-BE905547A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48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1600" y="1866728"/>
            <a:ext cx="8457083" cy="4375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73"/>
              </a:lnSpc>
            </a:pPr>
            <a:r>
              <a:rPr lang="en-US" sz="5773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SIM2WIN: A TEAM AGNOSTIC, EVENT-BASED PRE-MATCH TACTICAL RECOMMENDATION SYSTEM FOR FOOTBALL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995762" y="8883024"/>
            <a:ext cx="4883001" cy="293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08"/>
              </a:lnSpc>
            </a:pPr>
            <a:r>
              <a:rPr lang="en-US" sz="2400" dirty="0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May 2026</a:t>
            </a:r>
          </a:p>
        </p:txBody>
      </p:sp>
      <p:sp>
        <p:nvSpPr>
          <p:cNvPr id="6" name="AutoShape 6"/>
          <p:cNvSpPr/>
          <p:nvPr/>
        </p:nvSpPr>
        <p:spPr>
          <a:xfrm>
            <a:off x="5181600" y="9029700"/>
            <a:ext cx="1063701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808970" y="7162333"/>
            <a:ext cx="8457083" cy="66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8"/>
              </a:lnSpc>
            </a:pPr>
            <a:r>
              <a:rPr lang="en-US" sz="2398" b="1" dirty="0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Mouad Zemzoumi </a:t>
            </a:r>
          </a:p>
          <a:p>
            <a:pPr marL="0" lvl="0" indent="0" algn="ctr">
              <a:lnSpc>
                <a:spcPts val="2638"/>
              </a:lnSpc>
            </a:pPr>
            <a:r>
              <a:rPr lang="en-US" sz="2398" b="1" dirty="0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Supervised by: Dr. Amine </a:t>
            </a:r>
            <a:r>
              <a:rPr lang="en-US" sz="2398" b="1" dirty="0" err="1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Abouaomar</a:t>
            </a:r>
            <a:endParaRPr lang="en-US" sz="2398" b="1" dirty="0">
              <a:solidFill>
                <a:srgbClr val="0B132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502138" y="1094756"/>
            <a:ext cx="2392954" cy="528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035"/>
              </a:lnSpc>
            </a:pPr>
            <a:r>
              <a:rPr lang="en-US" sz="2098" b="1" dirty="0">
                <a:latin typeface="Proxima Nova Bold"/>
                <a:ea typeface="Proxima Nova Bold"/>
                <a:cs typeface="Proxima Nova Bold"/>
                <a:sym typeface="Proxima Nova Bold"/>
              </a:rPr>
              <a:t>Capstone Thesis Presentation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E19AE3-47E9-5AC6-C594-EC2D198873C7}"/>
              </a:ext>
            </a:extLst>
          </p:cNvPr>
          <p:cNvSpPr txBox="1"/>
          <p:nvPr/>
        </p:nvSpPr>
        <p:spPr>
          <a:xfrm>
            <a:off x="236970" y="8898893"/>
            <a:ext cx="9144000" cy="34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1909"/>
              </a:lnSpc>
            </a:pPr>
            <a:r>
              <a:rPr lang="en-US" sz="2400" dirty="0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github.com/Mouad-Ze/SIM2WIN</a:t>
            </a:r>
          </a:p>
        </p:txBody>
      </p:sp>
      <p:pic>
        <p:nvPicPr>
          <p:cNvPr id="1026" name="Picture 2" descr="Al Akhawayn University Approved Online Transfer Courses">
            <a:extLst>
              <a:ext uri="{FF2B5EF4-FFF2-40B4-BE49-F238E27FC236}">
                <a16:creationId xmlns:a16="http://schemas.microsoft.com/office/drawing/2014/main" id="{DFC4EDB0-640D-6876-B212-A9834FF58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52161"/>
            <a:ext cx="2005487" cy="161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38F9-3377-6841-3196-E27CF3CD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B8EA8344-F44B-997B-1A52-AC6971FB4176}"/>
              </a:ext>
            </a:extLst>
          </p:cNvPr>
          <p:cNvSpPr txBox="1"/>
          <p:nvPr/>
        </p:nvSpPr>
        <p:spPr>
          <a:xfrm>
            <a:off x="6809648" y="317563"/>
            <a:ext cx="6062578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78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Agenda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4710F39-DF3E-4AA8-3800-403A82F50A76}"/>
              </a:ext>
            </a:extLst>
          </p:cNvPr>
          <p:cNvSpPr txBox="1"/>
          <p:nvPr/>
        </p:nvSpPr>
        <p:spPr>
          <a:xfrm>
            <a:off x="1230276" y="2321353"/>
            <a:ext cx="5579372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 algn="l">
              <a:lnSpc>
                <a:spcPts val="2799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u="none" strike="noStrike" spc="-39" dirty="0">
                <a:solidFill>
                  <a:srgbClr val="2A2E30"/>
                </a:solidFill>
                <a:latin typeface="Proxima Nova Bold" panose="020B0604020202020204" charset="0"/>
                <a:ea typeface="Proxima Nova"/>
                <a:cs typeface="Proxima Nova"/>
                <a:sym typeface="Proxima Nova"/>
              </a:rPr>
              <a:t>Introduction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3A76EC1-1E98-1AF3-D296-64966DD7C458}"/>
              </a:ext>
            </a:extLst>
          </p:cNvPr>
          <p:cNvSpPr txBox="1"/>
          <p:nvPr/>
        </p:nvSpPr>
        <p:spPr>
          <a:xfrm>
            <a:off x="10668000" y="2141817"/>
            <a:ext cx="5579372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 algn="l">
              <a:lnSpc>
                <a:spcPts val="2799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r-FR" sz="3600" spc="-39" dirty="0" err="1">
                <a:solidFill>
                  <a:srgbClr val="2A2E30"/>
                </a:solidFill>
                <a:latin typeface="Proxima Nova Bold" panose="020B0604020202020204" charset="0"/>
                <a:ea typeface="Proxima Nova"/>
                <a:cs typeface="Proxima Nova"/>
                <a:sym typeface="Proxima Nova"/>
              </a:rPr>
              <a:t>Methodology</a:t>
            </a:r>
            <a:endParaRPr lang="en-US" sz="3600" u="none" strike="noStrike" spc="-39" dirty="0">
              <a:solidFill>
                <a:srgbClr val="2A2E30"/>
              </a:solidFill>
              <a:latin typeface="Proxima Nova Bold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E79E10F-7178-913D-BA05-ABFA6EFC3684}"/>
              </a:ext>
            </a:extLst>
          </p:cNvPr>
          <p:cNvSpPr txBox="1"/>
          <p:nvPr/>
        </p:nvSpPr>
        <p:spPr>
          <a:xfrm>
            <a:off x="1230276" y="4697724"/>
            <a:ext cx="9209124" cy="372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ts val="2799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spc="-39" dirty="0" err="1">
                <a:solidFill>
                  <a:srgbClr val="2A2E30"/>
                </a:solidFill>
                <a:latin typeface="Proxima Nova Bold" panose="020B0604020202020204" charset="0"/>
                <a:ea typeface="Proxima Nova"/>
                <a:cs typeface="Proxima Nova"/>
                <a:sym typeface="Proxima Nova"/>
              </a:rPr>
              <a:t>Litterature</a:t>
            </a:r>
            <a:r>
              <a:rPr lang="en-US" sz="3600" spc="-39" dirty="0">
                <a:solidFill>
                  <a:srgbClr val="2A2E30"/>
                </a:solidFill>
                <a:latin typeface="Proxima Nova Bold" panose="020B0604020202020204" charset="0"/>
                <a:ea typeface="Proxima Nova"/>
                <a:cs typeface="Proxima Nova"/>
                <a:sym typeface="Proxima Nova"/>
              </a:rPr>
              <a:t> Review </a:t>
            </a:r>
            <a:r>
              <a:rPr lang="fr-FR" sz="36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&amp;</a:t>
            </a:r>
            <a:r>
              <a:rPr lang="en-US" sz="3600" spc="-39" dirty="0">
                <a:solidFill>
                  <a:srgbClr val="2A2E30"/>
                </a:solidFill>
                <a:latin typeface="Proxima Nova Bold" panose="020B0604020202020204" charset="0"/>
                <a:ea typeface="Proxima Nova"/>
                <a:cs typeface="Proxima Nova"/>
                <a:sym typeface="Proxima Nova"/>
              </a:rPr>
              <a:t> Research Gaps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031ABD0-3C03-B560-5030-639F4EE82C5E}"/>
              </a:ext>
            </a:extLst>
          </p:cNvPr>
          <p:cNvSpPr txBox="1"/>
          <p:nvPr/>
        </p:nvSpPr>
        <p:spPr>
          <a:xfrm>
            <a:off x="1230276" y="7446377"/>
            <a:ext cx="5579372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lnSpc>
                <a:spcPts val="2799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latin typeface="Proxima Nova Bold" panose="020B0604020202020204" charset="0"/>
              </a:rPr>
              <a:t>Results and Findings</a:t>
            </a:r>
            <a:endParaRPr lang="en-US" sz="3600" spc="-39" dirty="0">
              <a:solidFill>
                <a:srgbClr val="2A2E30"/>
              </a:solidFill>
              <a:latin typeface="Proxima Nova Bold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BFFBE7B7-3689-365F-9CC8-E6F7E9039E41}"/>
              </a:ext>
            </a:extLst>
          </p:cNvPr>
          <p:cNvSpPr txBox="1"/>
          <p:nvPr/>
        </p:nvSpPr>
        <p:spPr>
          <a:xfrm>
            <a:off x="10668000" y="4697724"/>
            <a:ext cx="5867400" cy="372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ts val="2799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spc="-39" dirty="0">
                <a:solidFill>
                  <a:srgbClr val="2A2E30"/>
                </a:solidFill>
                <a:latin typeface="Proxima Nova Bold" panose="020B0604020202020204" charset="0"/>
                <a:ea typeface="Proxima Nova"/>
                <a:cs typeface="Proxima Nova"/>
                <a:sym typeface="Proxima Nova"/>
              </a:rPr>
              <a:t>Limitations </a:t>
            </a:r>
            <a:r>
              <a:rPr lang="fr-FR" sz="3600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&amp;</a:t>
            </a:r>
            <a:r>
              <a:rPr lang="en-US" sz="3600" spc="-39" dirty="0">
                <a:solidFill>
                  <a:srgbClr val="2A2E30"/>
                </a:solidFill>
                <a:latin typeface="Proxima Nova Bold" panose="020B0604020202020204" charset="0"/>
                <a:ea typeface="Proxima Nova"/>
                <a:cs typeface="Proxima Nova"/>
                <a:sym typeface="Proxima Nova"/>
              </a:rPr>
              <a:t> Future Work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5C539DA8-E0FD-BBA2-DD74-CBC2E51D0679}"/>
              </a:ext>
            </a:extLst>
          </p:cNvPr>
          <p:cNvSpPr txBox="1"/>
          <p:nvPr/>
        </p:nvSpPr>
        <p:spPr>
          <a:xfrm>
            <a:off x="10671243" y="7441367"/>
            <a:ext cx="5579372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lnSpc>
                <a:spcPts val="2799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spc="-39" dirty="0">
                <a:solidFill>
                  <a:srgbClr val="2A2E30"/>
                </a:solidFill>
                <a:latin typeface="Proxima Nova Bold" panose="020B0604020202020204" charset="0"/>
                <a:ea typeface="Proxima Nova"/>
                <a:cs typeface="Proxima Nova"/>
                <a:sym typeface="Proxima Nova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01555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722169" y="5650144"/>
            <a:ext cx="1009199" cy="84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95"/>
              </a:lnSpc>
              <a:spcBef>
                <a:spcPct val="0"/>
              </a:spcBef>
            </a:pPr>
            <a:r>
              <a:rPr lang="en-US" sz="6395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37469" y="5650144"/>
            <a:ext cx="1009199" cy="84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95"/>
              </a:lnSpc>
              <a:spcBef>
                <a:spcPct val="0"/>
              </a:spcBef>
            </a:pPr>
            <a:r>
              <a:rPr lang="en-US" sz="6395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3135" y="2986242"/>
            <a:ext cx="15217065" cy="5529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latin typeface="Proxima Nova" panose="020B0604020202020204" charset="0"/>
              </a:rPr>
              <a:t>Football is no longer just a sport; it is a high-density data environment where every second generates thousands of data points.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endParaRPr lang="en-US" sz="2800" dirty="0">
              <a:latin typeface="Proxima Nova" panose="020B0604020202020204" charset="0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latin typeface="Proxima Nova" panose="020B0604020202020204" charset="0"/>
              </a:rPr>
              <a:t>Despite having access to granular event data for every pass and pressure, many pre-match tactical decisions are still driven by subjective "expert" intuition and historical reputation.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endParaRPr lang="en-US" sz="2800" dirty="0">
              <a:latin typeface="Proxima Nova" panose="020B0604020202020204" charset="0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latin typeface="Proxima Nova" panose="020B0604020202020204" charset="0"/>
              </a:rPr>
              <a:t>We are in an era where machine learning can decode the "DNA" of a team’s playstyle. Sim2Win moves beyond simple forecasting to provide a data-driven, tactical compass for coaching staff.</a:t>
            </a:r>
          </a:p>
          <a:p>
            <a:pPr lvl="0" algn="just">
              <a:lnSpc>
                <a:spcPts val="2798"/>
              </a:lnSpc>
              <a:spcBef>
                <a:spcPct val="0"/>
              </a:spcBef>
            </a:pPr>
            <a:endParaRPr lang="en-US" sz="2400" dirty="0"/>
          </a:p>
        </p:txBody>
      </p:sp>
      <p:sp>
        <p:nvSpPr>
          <p:cNvPr id="12" name="TextBox 12"/>
          <p:cNvSpPr txBox="1"/>
          <p:nvPr/>
        </p:nvSpPr>
        <p:spPr>
          <a:xfrm>
            <a:off x="1623135" y="1644286"/>
            <a:ext cx="6062578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  <a:spcBef>
                <a:spcPct val="0"/>
              </a:spcBef>
            </a:pPr>
            <a:r>
              <a:rPr lang="en-US" sz="7994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</a:t>
            </a:r>
            <a:r>
              <a:rPr lang="en-US" sz="7994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507716" y="-297637"/>
            <a:ext cx="7040716" cy="10752058"/>
            <a:chOff x="0" y="0"/>
            <a:chExt cx="1090791" cy="16657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0791" cy="1665775"/>
            </a:xfrm>
            <a:custGeom>
              <a:avLst/>
              <a:gdLst/>
              <a:ahLst/>
              <a:cxnLst/>
              <a:rect l="l" t="t" r="r" b="b"/>
              <a:pathLst>
                <a:path w="1090791" h="1665775">
                  <a:moveTo>
                    <a:pt x="0" y="0"/>
                  </a:moveTo>
                  <a:lnTo>
                    <a:pt x="1090791" y="0"/>
                  </a:lnTo>
                  <a:lnTo>
                    <a:pt x="1090791" y="1665775"/>
                  </a:lnTo>
                  <a:lnTo>
                    <a:pt x="0" y="1665775"/>
                  </a:lnTo>
                  <a:close/>
                </a:path>
              </a:pathLst>
            </a:custGeom>
            <a:blipFill>
              <a:blip r:embed="rId2"/>
              <a:stretch>
                <a:fillRect l="-1445" r="-14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309026" y="5026004"/>
            <a:ext cx="6263535" cy="0"/>
          </a:xfrm>
          <a:prstGeom prst="line">
            <a:avLst/>
          </a:prstGeom>
          <a:ln w="10477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12018-AA71-0DA4-7F27-DE0F51BD5688}"/>
              </a:ext>
            </a:extLst>
          </p:cNvPr>
          <p:cNvSpPr txBox="1"/>
          <p:nvPr/>
        </p:nvSpPr>
        <p:spPr>
          <a:xfrm>
            <a:off x="609600" y="4597196"/>
            <a:ext cx="1117962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fr-FR" sz="8000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Litterature</a:t>
            </a:r>
            <a:r>
              <a:rPr lang="fr-FR" sz="8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fr-FR" sz="8000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Review</a:t>
            </a:r>
            <a:r>
              <a:rPr lang="fr-FR" sz="8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&amp; </a:t>
            </a:r>
            <a:r>
              <a:rPr lang="fr-FR" sz="8000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Research</a:t>
            </a:r>
            <a:r>
              <a:rPr lang="fr-FR" sz="8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Gaps</a:t>
            </a:r>
            <a:endParaRPr lang="en-US" sz="8000" b="1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AF6A-9BCE-3489-A754-80E7EE7C4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9F794E-88AB-362B-F576-84DD05152F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F81793F-CD41-076A-559E-39C68052365A}"/>
              </a:ext>
            </a:extLst>
          </p:cNvPr>
          <p:cNvGrpSpPr/>
          <p:nvPr/>
        </p:nvGrpSpPr>
        <p:grpSpPr>
          <a:xfrm>
            <a:off x="1254509" y="557931"/>
            <a:ext cx="15316201" cy="8501524"/>
            <a:chOff x="0" y="0"/>
            <a:chExt cx="1720256" cy="8722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CE0808F-FA0F-F507-04BA-CFFDB1074901}"/>
                </a:ext>
              </a:extLst>
            </p:cNvPr>
            <p:cNvSpPr/>
            <p:nvPr/>
          </p:nvSpPr>
          <p:spPr>
            <a:xfrm>
              <a:off x="0" y="0"/>
              <a:ext cx="1720256" cy="872242"/>
            </a:xfrm>
            <a:custGeom>
              <a:avLst/>
              <a:gdLst/>
              <a:ahLst/>
              <a:cxnLst/>
              <a:rect l="l" t="t" r="r" b="b"/>
              <a:pathLst>
                <a:path w="1720256" h="872242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869261"/>
                  </a:lnTo>
                  <a:cubicBezTo>
                    <a:pt x="1720256" y="870052"/>
                    <a:pt x="1719942" y="870810"/>
                    <a:pt x="1719383" y="871369"/>
                  </a:cubicBezTo>
                  <a:cubicBezTo>
                    <a:pt x="1718824" y="871928"/>
                    <a:pt x="1718065" y="872242"/>
                    <a:pt x="1717275" y="872242"/>
                  </a:cubicBezTo>
                  <a:lnTo>
                    <a:pt x="2981" y="872242"/>
                  </a:lnTo>
                  <a:cubicBezTo>
                    <a:pt x="2191" y="872242"/>
                    <a:pt x="1432" y="871928"/>
                    <a:pt x="873" y="871369"/>
                  </a:cubicBezTo>
                  <a:cubicBezTo>
                    <a:pt x="314" y="870810"/>
                    <a:pt x="0" y="870052"/>
                    <a:pt x="0" y="869261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D2EADF8-4353-628D-52EC-5A030B0DF29C}"/>
                </a:ext>
              </a:extLst>
            </p:cNvPr>
            <p:cNvSpPr txBox="1"/>
            <p:nvPr/>
          </p:nvSpPr>
          <p:spPr>
            <a:xfrm>
              <a:off x="0" y="-38100"/>
              <a:ext cx="1720256" cy="910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1FF3B76-A026-372A-80DA-1E3625774581}"/>
              </a:ext>
            </a:extLst>
          </p:cNvPr>
          <p:cNvSpPr txBox="1"/>
          <p:nvPr/>
        </p:nvSpPr>
        <p:spPr>
          <a:xfrm>
            <a:off x="6014005" y="1227545"/>
            <a:ext cx="7486517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51"/>
              </a:lnSpc>
              <a:spcBef>
                <a:spcPct val="0"/>
              </a:spcBef>
            </a:pPr>
            <a:r>
              <a:rPr lang="fr-FR" sz="4351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</a:t>
            </a:r>
            <a:r>
              <a:rPr lang="en-US" sz="4351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itterature</a:t>
            </a:r>
            <a:r>
              <a:rPr lang="en-US" sz="4351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Review (Match Outcome prediction)</a:t>
            </a:r>
            <a:endParaRPr lang="en-US" sz="4351" b="1" u="none" strike="noStrike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DEF1908-441C-C524-EDAC-711E32C61CC7}"/>
              </a:ext>
            </a:extLst>
          </p:cNvPr>
          <p:cNvSpPr txBox="1"/>
          <p:nvPr/>
        </p:nvSpPr>
        <p:spPr>
          <a:xfrm>
            <a:off x="1828800" y="3973500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en-US" sz="2800" dirty="0">
                <a:latin typeface="Proxima Nova Bold" panose="020B0604020202020204" charset="0"/>
              </a:rPr>
              <a:t>Machine Learning Dominance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141B7-9D51-3ADD-B6B3-5E8F72971440}"/>
              </a:ext>
            </a:extLst>
          </p:cNvPr>
          <p:cNvSpPr txBox="1"/>
          <p:nvPr/>
        </p:nvSpPr>
        <p:spPr>
          <a:xfrm>
            <a:off x="1828800" y="4533788"/>
            <a:ext cx="617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roxima Nova" panose="020B0604020202020204" charset="0"/>
              </a:rPr>
              <a:t>Classification is the primary methodology for predicting discrete match outcomes (Moya et al., 2025).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DE7545-6455-F4AD-FF7B-07A56204F54E}"/>
              </a:ext>
            </a:extLst>
          </p:cNvPr>
          <p:cNvSpPr txBox="1"/>
          <p:nvPr/>
        </p:nvSpPr>
        <p:spPr>
          <a:xfrm>
            <a:off x="10654324" y="4487971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roxima Nova" panose="020B0604020202020204" charset="0"/>
              </a:rPr>
              <a:t>Playing styles can be identified using Exploratory Factor Analysis (EFA) and clustering applied to event statistics (</a:t>
            </a:r>
            <a:r>
              <a:rPr lang="en-US" sz="2400" dirty="0" err="1">
                <a:latin typeface="Proxima Nova" panose="020B0604020202020204" charset="0"/>
              </a:rPr>
              <a:t>Baattite</a:t>
            </a:r>
            <a:r>
              <a:rPr lang="en-US" sz="2400" dirty="0">
                <a:latin typeface="Proxima Nova" panose="020B0604020202020204" charset="0"/>
              </a:rPr>
              <a:t>, 2023).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10140DF-B136-01FD-312F-F6CF37AA37E6}"/>
              </a:ext>
            </a:extLst>
          </p:cNvPr>
          <p:cNvSpPr txBox="1"/>
          <p:nvPr/>
        </p:nvSpPr>
        <p:spPr>
          <a:xfrm>
            <a:off x="10657252" y="3973499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en-US" sz="2800" dirty="0">
                <a:latin typeface="Proxima Nova Bold" panose="020B0604020202020204" charset="0"/>
              </a:rPr>
              <a:t>Behavioral Modeling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0FDD23F-B290-367C-E270-979A00D191BE}"/>
              </a:ext>
            </a:extLst>
          </p:cNvPr>
          <p:cNvSpPr txBox="1"/>
          <p:nvPr/>
        </p:nvSpPr>
        <p:spPr>
          <a:xfrm>
            <a:off x="6858000" y="6255209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en-US" sz="2800" dirty="0">
                <a:latin typeface="Proxima Nova Bold" panose="020B0604020202020204" charset="0"/>
              </a:rPr>
              <a:t>Predictive Features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A3FBC5-C3E0-ED07-C6EF-CF37923B072C}"/>
              </a:ext>
            </a:extLst>
          </p:cNvPr>
          <p:cNvSpPr txBox="1"/>
          <p:nvPr/>
        </p:nvSpPr>
        <p:spPr>
          <a:xfrm>
            <a:off x="5826509" y="6844717"/>
            <a:ext cx="6172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roxima Nova" panose="020B0604020202020204" charset="0"/>
              </a:rPr>
              <a:t>Home advantage, goal difference, and expected goals (</a:t>
            </a:r>
            <a:r>
              <a:rPr lang="en-US" sz="2400" dirty="0" err="1">
                <a:latin typeface="Proxima Nova" panose="020B0604020202020204" charset="0"/>
              </a:rPr>
              <a:t>xG</a:t>
            </a:r>
            <a:r>
              <a:rPr lang="en-US" sz="2400" dirty="0">
                <a:latin typeface="Proxima Nova" panose="020B0604020202020204" charset="0"/>
              </a:rPr>
              <a:t>) are consistently considered in literature as  the most robust predictors of match outcomes across Football games.</a:t>
            </a:r>
          </a:p>
        </p:txBody>
      </p:sp>
    </p:spTree>
    <p:extLst>
      <p:ext uri="{BB962C8B-B14F-4D97-AF65-F5344CB8AC3E}">
        <p14:creationId xmlns:p14="http://schemas.microsoft.com/office/powerpoint/2010/main" val="279990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AF1B-EE96-10F6-F8E7-95160FED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AE1EE6-FD5B-D6D1-84D3-9DF6557EB7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5BF9867-C3E1-FEB0-AEF9-65228CB42F77}"/>
              </a:ext>
            </a:extLst>
          </p:cNvPr>
          <p:cNvGrpSpPr/>
          <p:nvPr/>
        </p:nvGrpSpPr>
        <p:grpSpPr>
          <a:xfrm>
            <a:off x="1254509" y="557931"/>
            <a:ext cx="15316201" cy="8501524"/>
            <a:chOff x="0" y="0"/>
            <a:chExt cx="1720256" cy="8722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0A34416-D5CD-CC86-7C54-F8D28ADE6E8B}"/>
                </a:ext>
              </a:extLst>
            </p:cNvPr>
            <p:cNvSpPr/>
            <p:nvPr/>
          </p:nvSpPr>
          <p:spPr>
            <a:xfrm>
              <a:off x="0" y="0"/>
              <a:ext cx="1720256" cy="872242"/>
            </a:xfrm>
            <a:custGeom>
              <a:avLst/>
              <a:gdLst/>
              <a:ahLst/>
              <a:cxnLst/>
              <a:rect l="l" t="t" r="r" b="b"/>
              <a:pathLst>
                <a:path w="1720256" h="872242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869261"/>
                  </a:lnTo>
                  <a:cubicBezTo>
                    <a:pt x="1720256" y="870052"/>
                    <a:pt x="1719942" y="870810"/>
                    <a:pt x="1719383" y="871369"/>
                  </a:cubicBezTo>
                  <a:cubicBezTo>
                    <a:pt x="1718824" y="871928"/>
                    <a:pt x="1718065" y="872242"/>
                    <a:pt x="1717275" y="872242"/>
                  </a:cubicBezTo>
                  <a:lnTo>
                    <a:pt x="2981" y="872242"/>
                  </a:lnTo>
                  <a:cubicBezTo>
                    <a:pt x="2191" y="872242"/>
                    <a:pt x="1432" y="871928"/>
                    <a:pt x="873" y="871369"/>
                  </a:cubicBezTo>
                  <a:cubicBezTo>
                    <a:pt x="314" y="870810"/>
                    <a:pt x="0" y="870052"/>
                    <a:pt x="0" y="869261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EBDF731-CA7F-0441-D1B8-3EFCC303F374}"/>
                </a:ext>
              </a:extLst>
            </p:cNvPr>
            <p:cNvSpPr txBox="1"/>
            <p:nvPr/>
          </p:nvSpPr>
          <p:spPr>
            <a:xfrm>
              <a:off x="0" y="-38100"/>
              <a:ext cx="1720256" cy="910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2F6B752-56C3-8F8D-BA3D-CE6FB7CD6394}"/>
              </a:ext>
            </a:extLst>
          </p:cNvPr>
          <p:cNvSpPr txBox="1"/>
          <p:nvPr/>
        </p:nvSpPr>
        <p:spPr>
          <a:xfrm>
            <a:off x="6014005" y="1227545"/>
            <a:ext cx="7486517" cy="113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351"/>
              </a:lnSpc>
              <a:spcBef>
                <a:spcPct val="0"/>
              </a:spcBef>
            </a:pPr>
            <a:r>
              <a:rPr lang="fr-FR" sz="4351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L</a:t>
            </a:r>
            <a:r>
              <a:rPr lang="en-US" sz="4351" b="1" dirty="0" err="1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itterature</a:t>
            </a:r>
            <a:r>
              <a:rPr lang="en-US" sz="4351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 Review (</a:t>
            </a:r>
            <a:r>
              <a:rPr lang="en-US" sz="4400" dirty="0">
                <a:latin typeface="Proxima Nova Bold" panose="020B0604020202020204" charset="0"/>
              </a:rPr>
              <a:t>Traditional Rating Systems</a:t>
            </a:r>
            <a:r>
              <a:rPr lang="en-US" sz="4351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)</a:t>
            </a:r>
            <a:endParaRPr lang="en-US" sz="4351" b="1" u="none" strike="noStrike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297FE87-B376-E7BD-7430-65BA992D567C}"/>
              </a:ext>
            </a:extLst>
          </p:cNvPr>
          <p:cNvSpPr txBox="1"/>
          <p:nvPr/>
        </p:nvSpPr>
        <p:spPr>
          <a:xfrm>
            <a:off x="1828800" y="3973500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fr-FR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lo-G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6963A4-4A63-A2B4-8509-5B96474D7B13}"/>
              </a:ext>
            </a:extLst>
          </p:cNvPr>
          <p:cNvSpPr txBox="1"/>
          <p:nvPr/>
        </p:nvSpPr>
        <p:spPr>
          <a:xfrm>
            <a:off x="1828800" y="4533788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roxima Nova" panose="020B0604020202020204" charset="0"/>
              </a:rPr>
              <a:t>Assigns team strength via a scalar value; the "G" variant scales updates by goal margin to better capture dominance (Hvattum &amp; Arntzen, 2010).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02C3CA-7EDF-CA9C-ADFF-0335DE24934F}"/>
              </a:ext>
            </a:extLst>
          </p:cNvPr>
          <p:cNvSpPr txBox="1"/>
          <p:nvPr/>
        </p:nvSpPr>
        <p:spPr>
          <a:xfrm>
            <a:off x="9725969" y="4533788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roxima Nova" panose="020B0604020202020204" charset="0"/>
              </a:rPr>
              <a:t>Uses score discrepancies (goal difference) and exponential recency weighting to prioritize current ability over historical reputation (Constantinou &amp; Fenton, 2013).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260A64C9-807E-F82B-6302-A8A5C3941DC9}"/>
              </a:ext>
            </a:extLst>
          </p:cNvPr>
          <p:cNvSpPr txBox="1"/>
          <p:nvPr/>
        </p:nvSpPr>
        <p:spPr>
          <a:xfrm>
            <a:off x="9725969" y="3973500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fr-FR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P</a:t>
            </a:r>
            <a:r>
              <a:rPr lang="en-US" sz="2800" b="1" dirty="0" err="1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i</a:t>
            </a:r>
            <a:r>
              <a:rPr lang="en-US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-Rating 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87695DEA-6EB8-EAC8-5B87-EDBD1BC2D10B}"/>
              </a:ext>
            </a:extLst>
          </p:cNvPr>
          <p:cNvSpPr txBox="1"/>
          <p:nvPr/>
        </p:nvSpPr>
        <p:spPr>
          <a:xfrm>
            <a:off x="6858000" y="6255209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fr-FR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G</a:t>
            </a:r>
            <a:r>
              <a:rPr lang="en-US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AP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344E39-FE11-6ABA-674B-1742F50DE4B1}"/>
              </a:ext>
            </a:extLst>
          </p:cNvPr>
          <p:cNvSpPr txBox="1"/>
          <p:nvPr/>
        </p:nvSpPr>
        <p:spPr>
          <a:xfrm>
            <a:off x="5826509" y="6844717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roxima Nova" panose="020B0604020202020204" charset="0"/>
              </a:rPr>
              <a:t>Generalized Attacking Performance, Uses </a:t>
            </a:r>
            <a:r>
              <a:rPr lang="en-US" sz="2400" dirty="0" err="1">
                <a:latin typeface="Proxima Nova" panose="020B0604020202020204" charset="0"/>
              </a:rPr>
              <a:t>xG</a:t>
            </a:r>
            <a:r>
              <a:rPr lang="en-US" sz="2400" dirty="0">
                <a:latin typeface="Proxima Nova" panose="020B0604020202020204" charset="0"/>
              </a:rPr>
              <a:t> signals to separate attack and defense ratings for home and away contexts (Wheatcroft, 2021).</a:t>
            </a:r>
          </a:p>
        </p:txBody>
      </p:sp>
    </p:spTree>
    <p:extLst>
      <p:ext uri="{BB962C8B-B14F-4D97-AF65-F5344CB8AC3E}">
        <p14:creationId xmlns:p14="http://schemas.microsoft.com/office/powerpoint/2010/main" val="111437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9175D-17DA-0E25-B577-AB7E1D23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FCB380-C45E-1D7C-8B33-C81F0940866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C8B1AFC-F2FD-DFAB-01A3-1D3944729D7E}"/>
              </a:ext>
            </a:extLst>
          </p:cNvPr>
          <p:cNvGrpSpPr/>
          <p:nvPr/>
        </p:nvGrpSpPr>
        <p:grpSpPr>
          <a:xfrm>
            <a:off x="1254509" y="557931"/>
            <a:ext cx="15316201" cy="8501524"/>
            <a:chOff x="0" y="0"/>
            <a:chExt cx="1720256" cy="8722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A62795B-06B5-921A-ED26-B8F0C1277CE4}"/>
                </a:ext>
              </a:extLst>
            </p:cNvPr>
            <p:cNvSpPr/>
            <p:nvPr/>
          </p:nvSpPr>
          <p:spPr>
            <a:xfrm>
              <a:off x="0" y="0"/>
              <a:ext cx="1720256" cy="872242"/>
            </a:xfrm>
            <a:custGeom>
              <a:avLst/>
              <a:gdLst/>
              <a:ahLst/>
              <a:cxnLst/>
              <a:rect l="l" t="t" r="r" b="b"/>
              <a:pathLst>
                <a:path w="1720256" h="872242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869261"/>
                  </a:lnTo>
                  <a:cubicBezTo>
                    <a:pt x="1720256" y="870052"/>
                    <a:pt x="1719942" y="870810"/>
                    <a:pt x="1719383" y="871369"/>
                  </a:cubicBezTo>
                  <a:cubicBezTo>
                    <a:pt x="1718824" y="871928"/>
                    <a:pt x="1718065" y="872242"/>
                    <a:pt x="1717275" y="872242"/>
                  </a:cubicBezTo>
                  <a:lnTo>
                    <a:pt x="2981" y="872242"/>
                  </a:lnTo>
                  <a:cubicBezTo>
                    <a:pt x="2191" y="872242"/>
                    <a:pt x="1432" y="871928"/>
                    <a:pt x="873" y="871369"/>
                  </a:cubicBezTo>
                  <a:cubicBezTo>
                    <a:pt x="314" y="870810"/>
                    <a:pt x="0" y="870052"/>
                    <a:pt x="0" y="869261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7D956BE-38D4-57B8-44F1-D61934CE3F6E}"/>
                </a:ext>
              </a:extLst>
            </p:cNvPr>
            <p:cNvSpPr txBox="1"/>
            <p:nvPr/>
          </p:nvSpPr>
          <p:spPr>
            <a:xfrm>
              <a:off x="0" y="-38100"/>
              <a:ext cx="1720256" cy="910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0CA35AD-DFB0-FF47-94F4-7D772CAE4FAC}"/>
              </a:ext>
            </a:extLst>
          </p:cNvPr>
          <p:cNvSpPr txBox="1"/>
          <p:nvPr/>
        </p:nvSpPr>
        <p:spPr>
          <a:xfrm>
            <a:off x="6014005" y="1227545"/>
            <a:ext cx="7486517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351"/>
              </a:lnSpc>
              <a:spcBef>
                <a:spcPct val="0"/>
              </a:spcBef>
            </a:pPr>
            <a:r>
              <a:rPr lang="fr-FR" sz="4351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L</a:t>
            </a:r>
            <a:r>
              <a:rPr lang="en-US" sz="4351" b="1" dirty="0" err="1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itterature</a:t>
            </a:r>
            <a:r>
              <a:rPr lang="en-US" sz="4351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 Review (</a:t>
            </a:r>
            <a:r>
              <a:rPr lang="en-US" sz="4400" dirty="0">
                <a:latin typeface="Proxima Nova Bold" panose="020B0604020202020204" charset="0"/>
              </a:rPr>
              <a:t>Tactical &amp; Event-Based Analysis</a:t>
            </a:r>
            <a:r>
              <a:rPr lang="en-US" sz="4351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)</a:t>
            </a:r>
            <a:endParaRPr lang="en-US" sz="4351" b="1" u="none" strike="noStrike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DE65F38-DA00-9C99-054D-DF0219E00068}"/>
              </a:ext>
            </a:extLst>
          </p:cNvPr>
          <p:cNvSpPr txBox="1"/>
          <p:nvPr/>
        </p:nvSpPr>
        <p:spPr>
          <a:xfrm>
            <a:off x="1828800" y="3973500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fr-FR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vent Impact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F17CA5-1D0E-BA64-388F-27C19DCF1ADB}"/>
              </a:ext>
            </a:extLst>
          </p:cNvPr>
          <p:cNvSpPr txBox="1"/>
          <p:nvPr/>
        </p:nvSpPr>
        <p:spPr>
          <a:xfrm>
            <a:off x="1828800" y="4533788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 all recorded events influence performance equally; metrics like possession and pass accuracy vary in impact depending on the quality of opposition (Liu et al., 2013)</a:t>
            </a:r>
            <a:endParaRPr lang="en-US" sz="2400" dirty="0">
              <a:latin typeface="Proxima Nova" panose="020B0604020202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44E37C-CBCE-5AB3-0562-F6146DE65D28}"/>
              </a:ext>
            </a:extLst>
          </p:cNvPr>
          <p:cNvSpPr txBox="1"/>
          <p:nvPr/>
        </p:nvSpPr>
        <p:spPr>
          <a:xfrm>
            <a:off x="10287002" y="4499874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Raw possession often has a low correlation with winning for mid-quality teams; directness (passes per possession) is a more accurate tactical descriptor (Collet, 2013).</a:t>
            </a:r>
            <a:endParaRPr lang="en-US" sz="2400" dirty="0">
              <a:latin typeface="Proxima Nova" panose="020B0604020202020204" charset="0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49D507D7-35D9-0824-88BE-378376ACB04D}"/>
              </a:ext>
            </a:extLst>
          </p:cNvPr>
          <p:cNvSpPr txBox="1"/>
          <p:nvPr/>
        </p:nvSpPr>
        <p:spPr>
          <a:xfrm>
            <a:off x="10287002" y="3979157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fr-FR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P</a:t>
            </a:r>
            <a:r>
              <a:rPr lang="en-US" sz="2800" b="1" dirty="0" err="1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ossession</a:t>
            </a:r>
            <a:r>
              <a:rPr lang="en-US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 Context 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D116A3D-884C-26A7-B429-152D2D6BB615}"/>
              </a:ext>
            </a:extLst>
          </p:cNvPr>
          <p:cNvSpPr txBox="1"/>
          <p:nvPr/>
        </p:nvSpPr>
        <p:spPr>
          <a:xfrm>
            <a:off x="6858000" y="6255209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fr-FR" sz="2800" b="1" dirty="0" err="1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Situational</a:t>
            </a:r>
            <a:r>
              <a:rPr lang="fr-FR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 Variables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897BEA-4755-C535-0392-EF5401B792F4}"/>
              </a:ext>
            </a:extLst>
          </p:cNvPr>
          <p:cNvSpPr txBox="1"/>
          <p:nvPr/>
        </p:nvSpPr>
        <p:spPr>
          <a:xfrm>
            <a:off x="5826509" y="6844717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Physical intensity and tactical execution are heavily influenced by fatigue (days of rest) and match location (home/away) (Lago-</a:t>
            </a:r>
            <a:r>
              <a:rPr lang="en-US" sz="2400" dirty="0" err="1"/>
              <a:t>Peñas</a:t>
            </a:r>
            <a:r>
              <a:rPr lang="en-US" sz="2400" dirty="0"/>
              <a:t> &amp; Pollard, 2013) .</a:t>
            </a:r>
            <a:endParaRPr lang="en-US" sz="2400" dirty="0"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5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29E2-90F1-A7A7-EAB9-B9A62238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E5F7E0-6352-5723-E029-B5E0B20F552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E4AE4FD-508C-C6CD-43B0-CDAFECA07322}"/>
              </a:ext>
            </a:extLst>
          </p:cNvPr>
          <p:cNvGrpSpPr/>
          <p:nvPr/>
        </p:nvGrpSpPr>
        <p:grpSpPr>
          <a:xfrm>
            <a:off x="1254509" y="557931"/>
            <a:ext cx="15316201" cy="8501524"/>
            <a:chOff x="0" y="0"/>
            <a:chExt cx="1720256" cy="8722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2B49B0A-9A55-FF21-06A9-AE9641C8EAA4}"/>
                </a:ext>
              </a:extLst>
            </p:cNvPr>
            <p:cNvSpPr/>
            <p:nvPr/>
          </p:nvSpPr>
          <p:spPr>
            <a:xfrm>
              <a:off x="0" y="0"/>
              <a:ext cx="1720256" cy="872242"/>
            </a:xfrm>
            <a:custGeom>
              <a:avLst/>
              <a:gdLst/>
              <a:ahLst/>
              <a:cxnLst/>
              <a:rect l="l" t="t" r="r" b="b"/>
              <a:pathLst>
                <a:path w="1720256" h="872242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869261"/>
                  </a:lnTo>
                  <a:cubicBezTo>
                    <a:pt x="1720256" y="870052"/>
                    <a:pt x="1719942" y="870810"/>
                    <a:pt x="1719383" y="871369"/>
                  </a:cubicBezTo>
                  <a:cubicBezTo>
                    <a:pt x="1718824" y="871928"/>
                    <a:pt x="1718065" y="872242"/>
                    <a:pt x="1717275" y="872242"/>
                  </a:cubicBezTo>
                  <a:lnTo>
                    <a:pt x="2981" y="872242"/>
                  </a:lnTo>
                  <a:cubicBezTo>
                    <a:pt x="2191" y="872242"/>
                    <a:pt x="1432" y="871928"/>
                    <a:pt x="873" y="871369"/>
                  </a:cubicBezTo>
                  <a:cubicBezTo>
                    <a:pt x="314" y="870810"/>
                    <a:pt x="0" y="870052"/>
                    <a:pt x="0" y="869261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E405CEF-2908-B6A4-103C-460909E3752C}"/>
                </a:ext>
              </a:extLst>
            </p:cNvPr>
            <p:cNvSpPr txBox="1"/>
            <p:nvPr/>
          </p:nvSpPr>
          <p:spPr>
            <a:xfrm>
              <a:off x="0" y="-38100"/>
              <a:ext cx="1720256" cy="910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6ADB162-F4D2-C0B6-CF19-293A44DD95E3}"/>
              </a:ext>
            </a:extLst>
          </p:cNvPr>
          <p:cNvSpPr txBox="1"/>
          <p:nvPr/>
        </p:nvSpPr>
        <p:spPr>
          <a:xfrm>
            <a:off x="6858000" y="1261748"/>
            <a:ext cx="7486517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351"/>
              </a:lnSpc>
              <a:spcBef>
                <a:spcPct val="0"/>
              </a:spcBef>
            </a:pPr>
            <a:r>
              <a:rPr lang="fr-FR" sz="4351" b="1" u="none" strike="noStrike" dirty="0" err="1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Research</a:t>
            </a:r>
            <a:r>
              <a:rPr lang="fr-FR" sz="4351" b="1" u="none" strike="noStrike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 Gaps</a:t>
            </a:r>
            <a:endParaRPr lang="en-US" sz="4351" b="1" u="none" strike="noStrike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669842-98C8-3A83-6738-FB3D80B29EB3}"/>
              </a:ext>
            </a:extLst>
          </p:cNvPr>
          <p:cNvSpPr txBox="1"/>
          <p:nvPr/>
        </p:nvSpPr>
        <p:spPr>
          <a:xfrm>
            <a:off x="1828800" y="3973500"/>
            <a:ext cx="7592648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en-US" sz="2800" b="1" dirty="0"/>
              <a:t>The Identity Trap</a:t>
            </a:r>
            <a:r>
              <a:rPr lang="en-US" sz="2800" dirty="0"/>
              <a:t> 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4C243-5E0D-76E8-6548-B7AB378303FB}"/>
              </a:ext>
            </a:extLst>
          </p:cNvPr>
          <p:cNvSpPr txBox="1"/>
          <p:nvPr/>
        </p:nvSpPr>
        <p:spPr>
          <a:xfrm>
            <a:off x="1828800" y="4533788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Established systems are "locked" to team names. If a team is newly promoted or has a rotating squad, these models fail because they lack historical "identity".</a:t>
            </a:r>
            <a:endParaRPr lang="en-US" sz="2400" dirty="0">
              <a:latin typeface="Proxima Nova" panose="020B060402020202020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A419BF-BFC2-735E-7364-61FE6E5F8F12}"/>
              </a:ext>
            </a:extLst>
          </p:cNvPr>
          <p:cNvSpPr txBox="1"/>
          <p:nvPr/>
        </p:nvSpPr>
        <p:spPr>
          <a:xfrm>
            <a:off x="10281419" y="4499874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Most systems tell you </a:t>
            </a:r>
            <a:r>
              <a:rPr lang="en-US" sz="2400" i="1" dirty="0"/>
              <a:t>if</a:t>
            </a:r>
            <a:r>
              <a:rPr lang="en-US" sz="2400" dirty="0"/>
              <a:t> you will win, but they can't tell you </a:t>
            </a:r>
            <a:r>
              <a:rPr lang="en-US" sz="2400" i="1" dirty="0"/>
              <a:t>how</a:t>
            </a:r>
            <a:r>
              <a:rPr lang="en-US" sz="2400" dirty="0"/>
              <a:t> to win. They predict outcomes instead of recommending actionable tactics.</a:t>
            </a:r>
            <a:endParaRPr lang="en-US" sz="2400" dirty="0">
              <a:latin typeface="Proxima Nova" panose="020B0604020202020204" charset="0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EE224C0-46F0-76A7-C371-498D3A59493B}"/>
              </a:ext>
            </a:extLst>
          </p:cNvPr>
          <p:cNvSpPr txBox="1"/>
          <p:nvPr/>
        </p:nvSpPr>
        <p:spPr>
          <a:xfrm>
            <a:off x="10281419" y="3985140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fr-FR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P</a:t>
            </a:r>
            <a:r>
              <a:rPr lang="en-US" sz="2800" b="1" dirty="0" err="1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assive</a:t>
            </a:r>
            <a:r>
              <a:rPr lang="en-US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 Forecast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2252B343-EC0D-E233-FFAA-E8D9B9467730}"/>
              </a:ext>
            </a:extLst>
          </p:cNvPr>
          <p:cNvSpPr txBox="1"/>
          <p:nvPr/>
        </p:nvSpPr>
        <p:spPr>
          <a:xfrm>
            <a:off x="6858000" y="6255209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77"/>
              </a:lnSpc>
            </a:pPr>
            <a:r>
              <a:rPr lang="fr-FR" sz="2800" b="1" dirty="0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The Black Box </a:t>
            </a:r>
            <a:r>
              <a:rPr lang="fr-FR" sz="2800" b="1" dirty="0" err="1">
                <a:solidFill>
                  <a:srgbClr val="000000"/>
                </a:solidFill>
                <a:latin typeface="Proxima Nova Bold" panose="020B0604020202020204" charset="0"/>
                <a:ea typeface="Proxima Nova Bold"/>
                <a:cs typeface="Proxima Nova Bold"/>
                <a:sym typeface="Proxima Nova Bold"/>
              </a:rPr>
              <a:t>Problem</a:t>
            </a:r>
            <a:endParaRPr lang="en-US" sz="2798" b="1" dirty="0">
              <a:solidFill>
                <a:srgbClr val="000000"/>
              </a:solidFill>
              <a:latin typeface="Proxima Nova Bold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37E67-35A0-56B3-5CEB-F7EC0A8A6546}"/>
              </a:ext>
            </a:extLst>
          </p:cNvPr>
          <p:cNvSpPr txBox="1"/>
          <p:nvPr/>
        </p:nvSpPr>
        <p:spPr>
          <a:xfrm>
            <a:off x="5826509" y="6844717"/>
            <a:ext cx="6172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Subjective scouting is expensive and slow, yet current AI models often lack the interpretability needed for a coach to trust them in a high-stakes match or a tailored for some specific teams</a:t>
            </a:r>
            <a:r>
              <a:rPr lang="fr-FR" sz="2400" dirty="0"/>
              <a:t>/</a:t>
            </a:r>
            <a:r>
              <a:rPr lang="fr-FR" sz="2400" dirty="0" err="1"/>
              <a:t>leagues</a:t>
            </a:r>
            <a:r>
              <a:rPr lang="en-US" sz="2400" dirty="0"/>
              <a:t>.</a:t>
            </a:r>
            <a:endParaRPr lang="en-US" sz="2400" dirty="0"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4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40481-5D13-8E52-3F33-391C812D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9C0A967-B07E-1C09-5C90-40E70656CB7E}"/>
              </a:ext>
            </a:extLst>
          </p:cNvPr>
          <p:cNvGrpSpPr/>
          <p:nvPr/>
        </p:nvGrpSpPr>
        <p:grpSpPr>
          <a:xfrm>
            <a:off x="11507716" y="-297637"/>
            <a:ext cx="7040716" cy="10752058"/>
            <a:chOff x="0" y="0"/>
            <a:chExt cx="1090791" cy="166577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7117402-24DA-C1C7-51C0-F9946B7C15A7}"/>
                </a:ext>
              </a:extLst>
            </p:cNvPr>
            <p:cNvSpPr/>
            <p:nvPr/>
          </p:nvSpPr>
          <p:spPr>
            <a:xfrm>
              <a:off x="0" y="0"/>
              <a:ext cx="1090791" cy="1665775"/>
            </a:xfrm>
            <a:custGeom>
              <a:avLst/>
              <a:gdLst/>
              <a:ahLst/>
              <a:cxnLst/>
              <a:rect l="l" t="t" r="r" b="b"/>
              <a:pathLst>
                <a:path w="1090791" h="1665775">
                  <a:moveTo>
                    <a:pt x="0" y="0"/>
                  </a:moveTo>
                  <a:lnTo>
                    <a:pt x="1090791" y="0"/>
                  </a:lnTo>
                  <a:lnTo>
                    <a:pt x="1090791" y="1665775"/>
                  </a:lnTo>
                  <a:lnTo>
                    <a:pt x="0" y="1665775"/>
                  </a:lnTo>
                  <a:close/>
                </a:path>
              </a:pathLst>
            </a:custGeom>
            <a:blipFill>
              <a:blip r:embed="rId2"/>
              <a:stretch>
                <a:fillRect l="-1445" r="-14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F2E9EBC9-1E82-B17A-5D20-BEAB002BD6F8}"/>
              </a:ext>
            </a:extLst>
          </p:cNvPr>
          <p:cNvSpPr/>
          <p:nvPr/>
        </p:nvSpPr>
        <p:spPr>
          <a:xfrm flipV="1">
            <a:off x="1309026" y="5026004"/>
            <a:ext cx="6263535" cy="0"/>
          </a:xfrm>
          <a:prstGeom prst="line">
            <a:avLst/>
          </a:prstGeom>
          <a:ln w="10477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80C07-53C0-8BE7-7DFF-6056D44C01A7}"/>
              </a:ext>
            </a:extLst>
          </p:cNvPr>
          <p:cNvSpPr txBox="1"/>
          <p:nvPr/>
        </p:nvSpPr>
        <p:spPr>
          <a:xfrm>
            <a:off x="609600" y="4597196"/>
            <a:ext cx="1117962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fr-FR" sz="8000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Methodology</a:t>
            </a:r>
            <a:endParaRPr lang="en-US" sz="8000" b="1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</p:spTree>
    <p:extLst>
      <p:ext uri="{BB962C8B-B14F-4D97-AF65-F5344CB8AC3E}">
        <p14:creationId xmlns:p14="http://schemas.microsoft.com/office/powerpoint/2010/main" val="590687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566765" y="4485292"/>
            <a:ext cx="2950747" cy="15064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spc="-3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-US" sz="1999" spc="-39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atch</a:t>
            </a:r>
            <a:r>
              <a:rPr lang="en-US" sz="1999" spc="-3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Events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239987" y="4543574"/>
            <a:ext cx="2747311" cy="1506415"/>
            <a:chOff x="0" y="0"/>
            <a:chExt cx="585200" cy="337450"/>
          </a:xfrm>
          <a:solidFill>
            <a:schemeClr val="bg1"/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5200" cy="337450"/>
            </a:xfrm>
            <a:custGeom>
              <a:avLst/>
              <a:gdLst/>
              <a:ahLst/>
              <a:cxnLst/>
              <a:rect l="l" t="t" r="r" b="b"/>
              <a:pathLst>
                <a:path w="585200" h="337450">
                  <a:moveTo>
                    <a:pt x="0" y="0"/>
                  </a:moveTo>
                  <a:lnTo>
                    <a:pt x="585200" y="0"/>
                  </a:lnTo>
                  <a:lnTo>
                    <a:pt x="585200" y="337450"/>
                  </a:lnTo>
                  <a:lnTo>
                    <a:pt x="0" y="337450"/>
                  </a:lnTo>
                  <a:close/>
                </a:path>
              </a:pathLst>
            </a:custGeom>
            <a:grpFill/>
            <a:ln w="28575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585200" cy="3374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fr-FR" sz="1999" spc="-39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</a:t>
              </a:r>
              <a:r>
                <a:rPr lang="en-US" sz="1999" spc="-39" dirty="0" err="1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ggregated</a:t>
              </a:r>
              <a:r>
                <a:rPr lang="en-US" sz="1999" spc="-39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matches (Per League)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93264" y="4419430"/>
            <a:ext cx="2747311" cy="1594597"/>
            <a:chOff x="0" y="0"/>
            <a:chExt cx="586054" cy="337450"/>
          </a:xfrm>
          <a:solidFill>
            <a:schemeClr val="bg1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585200" cy="337450"/>
            </a:xfrm>
            <a:custGeom>
              <a:avLst/>
              <a:gdLst/>
              <a:ahLst/>
              <a:cxnLst/>
              <a:rect l="l" t="t" r="r" b="b"/>
              <a:pathLst>
                <a:path w="585200" h="337450">
                  <a:moveTo>
                    <a:pt x="0" y="0"/>
                  </a:moveTo>
                  <a:lnTo>
                    <a:pt x="585200" y="0"/>
                  </a:lnTo>
                  <a:lnTo>
                    <a:pt x="585200" y="337450"/>
                  </a:lnTo>
                  <a:lnTo>
                    <a:pt x="0" y="337450"/>
                  </a:lnTo>
                  <a:close/>
                </a:path>
              </a:pathLst>
            </a:custGeom>
            <a:grpFill/>
            <a:ln w="28575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4" y="0"/>
              <a:ext cx="585200" cy="3374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fr-FR" sz="1999" spc="-39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Pre-</a:t>
              </a:r>
              <a:r>
                <a:rPr lang="fr-FR" sz="1999" spc="-39" dirty="0" err="1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Processing</a:t>
              </a:r>
              <a:r>
                <a:rPr lang="fr-FR" sz="1999" spc="-39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 </a:t>
              </a:r>
              <a:r>
                <a:rPr lang="fr-FR" sz="1999" spc="-39" dirty="0" err="1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Feature</a:t>
              </a:r>
              <a:r>
                <a:rPr lang="fr-FR" sz="1999" spc="-39" dirty="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Engineering and Clustering.</a:t>
              </a:r>
              <a:endParaRPr lang="en-US" sz="1999" spc="-3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3" name="AutoShape 23"/>
          <p:cNvSpPr/>
          <p:nvPr/>
        </p:nvSpPr>
        <p:spPr>
          <a:xfrm flipV="1">
            <a:off x="3533725" y="5238499"/>
            <a:ext cx="733476" cy="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 flipV="1">
            <a:off x="10208197" y="5238499"/>
            <a:ext cx="5850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2042139" y="1181171"/>
            <a:ext cx="14203723" cy="1060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94"/>
              </a:lnSpc>
              <a:spcBef>
                <a:spcPct val="0"/>
              </a:spcBef>
            </a:pPr>
            <a:r>
              <a:rPr lang="en-US" sz="7994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</a:t>
            </a:r>
            <a:r>
              <a:rPr lang="en-US" sz="7994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Architecture</a:t>
            </a:r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17C64C5F-91A0-16F1-8281-594376050FD6}"/>
              </a:ext>
            </a:extLst>
          </p:cNvPr>
          <p:cNvSpPr/>
          <p:nvPr/>
        </p:nvSpPr>
        <p:spPr>
          <a:xfrm>
            <a:off x="13544578" y="5238500"/>
            <a:ext cx="7184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FC426450-8BD2-37B8-FFFF-00948DFAB0A8}"/>
              </a:ext>
            </a:extLst>
          </p:cNvPr>
          <p:cNvSpPr txBox="1"/>
          <p:nvPr/>
        </p:nvSpPr>
        <p:spPr>
          <a:xfrm>
            <a:off x="14263050" y="4562505"/>
            <a:ext cx="2950747" cy="15064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spc="-3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Final Data</a:t>
            </a:r>
            <a:endParaRPr lang="en-US" sz="1999" spc="-39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0C4A087-841E-0EED-AAA5-5ADCFF6AF282}"/>
              </a:ext>
            </a:extLst>
          </p:cNvPr>
          <p:cNvSpPr txBox="1"/>
          <p:nvPr/>
        </p:nvSpPr>
        <p:spPr>
          <a:xfrm>
            <a:off x="7942750" y="4507612"/>
            <a:ext cx="2265446" cy="15064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spc="-39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Aggregated</a:t>
            </a:r>
            <a:r>
              <a:rPr lang="fr-FR" sz="1999" spc="-3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matches per </a:t>
            </a:r>
            <a:r>
              <a:rPr lang="fr-FR" sz="1999" spc="-39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season</a:t>
            </a:r>
            <a:r>
              <a:rPr lang="fr-FR" sz="1999" spc="-3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lang="en-US" sz="1999" spc="-39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AutoShape 23">
            <a:extLst>
              <a:ext uri="{FF2B5EF4-FFF2-40B4-BE49-F238E27FC236}">
                <a16:creationId xmlns:a16="http://schemas.microsoft.com/office/drawing/2014/main" id="{500C4366-84AD-EA08-B9DD-67184CB2B539}"/>
              </a:ext>
            </a:extLst>
          </p:cNvPr>
          <p:cNvSpPr/>
          <p:nvPr/>
        </p:nvSpPr>
        <p:spPr>
          <a:xfrm flipV="1">
            <a:off x="7005563" y="5238499"/>
            <a:ext cx="933183" cy="223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27656" y="3184525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727656" y="5143500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727656" y="7109619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268568" y="1733349"/>
            <a:ext cx="758389" cy="681003"/>
            <a:chOff x="0" y="0"/>
            <a:chExt cx="6223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558800"/>
            </a:xfrm>
            <a:custGeom>
              <a:avLst/>
              <a:gdLst/>
              <a:ahLst/>
              <a:cxnLst/>
              <a:rect l="l" t="t" r="r" b="b"/>
              <a:pathLst>
                <a:path w="622300" h="558800">
                  <a:moveTo>
                    <a:pt x="622300" y="139700"/>
                  </a:moveTo>
                  <a:cubicBezTo>
                    <a:pt x="622300" y="62495"/>
                    <a:pt x="559707" y="0"/>
                    <a:pt x="482742" y="0"/>
                  </a:cubicBezTo>
                  <a:lnTo>
                    <a:pt x="0" y="0"/>
                  </a:lnTo>
                  <a:lnTo>
                    <a:pt x="0" y="279400"/>
                  </a:lnTo>
                  <a:lnTo>
                    <a:pt x="139558" y="279400"/>
                  </a:lnTo>
                  <a:cubicBezTo>
                    <a:pt x="62431" y="279400"/>
                    <a:pt x="0" y="342057"/>
                    <a:pt x="0" y="419100"/>
                  </a:cubicBezTo>
                  <a:cubicBezTo>
                    <a:pt x="0" y="496305"/>
                    <a:pt x="62593" y="558800"/>
                    <a:pt x="139558" y="558800"/>
                  </a:cubicBezTo>
                  <a:lnTo>
                    <a:pt x="622137" y="558800"/>
                  </a:lnTo>
                  <a:lnTo>
                    <a:pt x="622137" y="279400"/>
                  </a:lnTo>
                  <a:lnTo>
                    <a:pt x="482580" y="279400"/>
                  </a:lnTo>
                  <a:cubicBezTo>
                    <a:pt x="559707" y="279400"/>
                    <a:pt x="622300" y="216743"/>
                    <a:pt x="622300" y="1397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9700" y="-38100"/>
              <a:ext cx="3429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68568" y="7625914"/>
            <a:ext cx="758389" cy="727435"/>
            <a:chOff x="0" y="0"/>
            <a:chExt cx="6223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8900"/>
              <a:ext cx="6223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68568" y="5619750"/>
            <a:ext cx="758389" cy="758389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68568" y="3660775"/>
            <a:ext cx="758389" cy="75838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80972" y="3629977"/>
            <a:ext cx="6062578" cy="302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78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 &amp; Competitions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27656" y="1656556"/>
            <a:ext cx="5579372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2400" u="none" strike="noStrike" spc="-39" dirty="0" err="1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StatsBomb</a:t>
            </a:r>
            <a:r>
              <a:rPr lang="en-US" sz="2400" u="none" strike="noStrike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 open data: </a:t>
            </a:r>
            <a:r>
              <a:rPr lang="en-US" sz="2400" b="1" u="none" strike="noStrike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1,411 team-match </a:t>
            </a:r>
            <a:r>
              <a:rPr lang="en-US" sz="2400" u="none" strike="noStrike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rows, </a:t>
            </a:r>
            <a:r>
              <a:rPr lang="en-US" sz="2400" b="1" u="none" strike="noStrike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178 unique teams</a:t>
            </a:r>
            <a:r>
              <a:rPr lang="en-US" sz="2400" u="none" strike="noStrike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-US" sz="2400" b="1" u="none" strike="noStrike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~706 matches </a:t>
            </a:r>
            <a:r>
              <a:rPr lang="en-US" sz="2400" u="none" strike="noStrike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spanning 2003-2024.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27656" y="5581650"/>
            <a:ext cx="557937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fr-FR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52 </a:t>
            </a:r>
            <a:r>
              <a:rPr lang="fr-FR" sz="2400" spc="-39" dirty="0" err="1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Features</a:t>
            </a:r>
            <a:r>
              <a:rPr lang="fr-FR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fr-FR" sz="2400" spc="-39" dirty="0" err="1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including</a:t>
            </a:r>
            <a:r>
              <a:rPr lang="fr-FR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fr-FR" sz="2400" b="1" spc="-39" dirty="0" err="1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Tactical</a:t>
            </a:r>
            <a:r>
              <a:rPr lang="fr-FR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fr-FR" sz="2400" b="1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Temporal</a:t>
            </a:r>
            <a:r>
              <a:rPr lang="fr-FR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 and  </a:t>
            </a:r>
            <a:r>
              <a:rPr lang="fr-FR" sz="2400" b="1" spc="-39" dirty="0" err="1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Contextual</a:t>
            </a:r>
            <a:r>
              <a:rPr lang="fr-FR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fr-FR" sz="2400" spc="-39" dirty="0" err="1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ones</a:t>
            </a:r>
            <a:r>
              <a:rPr lang="fr-FR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lang="en-US" sz="2400" u="none" strike="noStrike" spc="-39" dirty="0">
              <a:solidFill>
                <a:srgbClr val="2A2E3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727656" y="3622675"/>
            <a:ext cx="5579372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11 competitions: </a:t>
            </a:r>
            <a:r>
              <a:rPr lang="en-US" sz="2400" b="1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Bundesliga, Premier League, La Liga, FIFA World Cup, UEFA Euro, Women's World Cup</a:t>
            </a:r>
            <a:r>
              <a:rPr lang="en-US" sz="2400" spc="-39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27656" y="7547769"/>
            <a:ext cx="5579372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799"/>
              </a:lnSpc>
              <a:spcBef>
                <a:spcPct val="0"/>
              </a:spcBef>
            </a:pPr>
            <a:r>
              <a:rPr lang="en-US" sz="2400" dirty="0">
                <a:latin typeface="Proxima Nova" panose="020B0604020202020204" charset="0"/>
              </a:rPr>
              <a:t>Applied chronological sorting, 1st/99th percentile </a:t>
            </a:r>
            <a:r>
              <a:rPr lang="en-US" sz="2400" b="1" dirty="0" err="1">
                <a:latin typeface="Proxima Nova" panose="020B0604020202020204" charset="0"/>
              </a:rPr>
              <a:t>Winsorization</a:t>
            </a:r>
            <a:r>
              <a:rPr lang="en-US" sz="2400" dirty="0">
                <a:latin typeface="Proxima Nova" panose="020B0604020202020204" charset="0"/>
              </a:rPr>
              <a:t>, and </a:t>
            </a:r>
            <a:r>
              <a:rPr lang="en-US" sz="2400" b="1" dirty="0" err="1">
                <a:latin typeface="Proxima Nova" panose="020B0604020202020204" charset="0"/>
              </a:rPr>
              <a:t>xG</a:t>
            </a:r>
            <a:r>
              <a:rPr lang="en-US" sz="2400" b="1" dirty="0">
                <a:latin typeface="Proxima Nova" panose="020B0604020202020204" charset="0"/>
              </a:rPr>
              <a:t> capping </a:t>
            </a:r>
            <a:r>
              <a:rPr lang="en-US" sz="2400" dirty="0">
                <a:latin typeface="Proxima Nova" panose="020B0604020202020204" charset="0"/>
              </a:rPr>
              <a:t>at 5.0 to ensure data stability among many other pre-processing steps.</a:t>
            </a:r>
            <a:endParaRPr lang="en-US" sz="2400" spc="-39" dirty="0">
              <a:solidFill>
                <a:srgbClr val="2A2E3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13142"/>
            <a:ext cx="9208615" cy="182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1"/>
              </a:lnSpc>
              <a:spcBef>
                <a:spcPct val="0"/>
              </a:spcBef>
            </a:pPr>
            <a:r>
              <a:rPr lang="en-US" sz="7031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Feature Engineering: Tactical Ratios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561084"/>
            <a:ext cx="3901711" cy="5697216"/>
            <a:chOff x="0" y="0"/>
            <a:chExt cx="1027611" cy="15005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7611" cy="1500501"/>
            </a:xfrm>
            <a:custGeom>
              <a:avLst/>
              <a:gdLst/>
              <a:ahLst/>
              <a:cxnLst/>
              <a:rect l="l" t="t" r="r" b="b"/>
              <a:pathLst>
                <a:path w="1027611" h="1500501">
                  <a:moveTo>
                    <a:pt x="0" y="0"/>
                  </a:moveTo>
                  <a:lnTo>
                    <a:pt x="1027611" y="0"/>
                  </a:lnTo>
                  <a:lnTo>
                    <a:pt x="1027611" y="1500501"/>
                  </a:lnTo>
                  <a:lnTo>
                    <a:pt x="0" y="1500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027611" cy="1471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23166" y="4294565"/>
            <a:ext cx="2912779" cy="94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1"/>
              </a:lnSpc>
              <a:spcBef>
                <a:spcPct val="0"/>
              </a:spcBef>
            </a:pPr>
            <a:r>
              <a:rPr lang="en-US" sz="7031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</a:p>
        </p:txBody>
      </p:sp>
      <p:sp>
        <p:nvSpPr>
          <p:cNvPr id="7" name="Freeform 7"/>
          <p:cNvSpPr/>
          <p:nvPr/>
        </p:nvSpPr>
        <p:spPr>
          <a:xfrm>
            <a:off x="10769522" y="-2726980"/>
            <a:ext cx="9112898" cy="6710407"/>
          </a:xfrm>
          <a:custGeom>
            <a:avLst/>
            <a:gdLst/>
            <a:ahLst/>
            <a:cxnLst/>
            <a:rect l="l" t="t" r="r" b="b"/>
            <a:pathLst>
              <a:path w="9112898" h="6710407">
                <a:moveTo>
                  <a:pt x="0" y="0"/>
                </a:moveTo>
                <a:lnTo>
                  <a:pt x="9112898" y="0"/>
                </a:lnTo>
                <a:lnTo>
                  <a:pt x="9112898" y="6710407"/>
                </a:lnTo>
                <a:lnTo>
                  <a:pt x="0" y="6710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5138330" y="3561084"/>
            <a:ext cx="3901711" cy="5697216"/>
            <a:chOff x="0" y="0"/>
            <a:chExt cx="1027611" cy="15005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7611" cy="1500501"/>
            </a:xfrm>
            <a:custGeom>
              <a:avLst/>
              <a:gdLst/>
              <a:ahLst/>
              <a:cxnLst/>
              <a:rect l="l" t="t" r="r" b="b"/>
              <a:pathLst>
                <a:path w="1027611" h="1500501">
                  <a:moveTo>
                    <a:pt x="0" y="0"/>
                  </a:moveTo>
                  <a:lnTo>
                    <a:pt x="1027611" y="0"/>
                  </a:lnTo>
                  <a:lnTo>
                    <a:pt x="1027611" y="1500501"/>
                  </a:lnTo>
                  <a:lnTo>
                    <a:pt x="0" y="1500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027611" cy="1471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632796" y="4294565"/>
            <a:ext cx="2912779" cy="94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1"/>
              </a:lnSpc>
              <a:spcBef>
                <a:spcPct val="0"/>
              </a:spcBef>
            </a:pPr>
            <a:r>
              <a:rPr lang="en-US" sz="7031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32796" y="5702175"/>
            <a:ext cx="3041159" cy="66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FAFAF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Shot</a:t>
            </a:r>
          </a:p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FAFAF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Quality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53176" y="6696934"/>
            <a:ext cx="3901710" cy="1894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2000" b="1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2000" b="1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Expected Goals (</a:t>
            </a:r>
            <a:r>
              <a:rPr lang="en-US" sz="2000" b="1" u="none" strike="noStrike" spc="-36" dirty="0" err="1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xG</a:t>
            </a:r>
            <a:r>
              <a:rPr lang="en-US" sz="2000" b="1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) / (Shots + ε)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Measures the quality of scoring opportunities created, not just volume.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47959" y="3561084"/>
            <a:ext cx="3901711" cy="5697216"/>
            <a:chOff x="0" y="0"/>
            <a:chExt cx="1027611" cy="15005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7611" cy="1500501"/>
            </a:xfrm>
            <a:custGeom>
              <a:avLst/>
              <a:gdLst/>
              <a:ahLst/>
              <a:cxnLst/>
              <a:rect l="l" t="t" r="r" b="b"/>
              <a:pathLst>
                <a:path w="1027611" h="1500501">
                  <a:moveTo>
                    <a:pt x="0" y="0"/>
                  </a:moveTo>
                  <a:lnTo>
                    <a:pt x="1027611" y="0"/>
                  </a:lnTo>
                  <a:lnTo>
                    <a:pt x="1027611" y="1500501"/>
                  </a:lnTo>
                  <a:lnTo>
                    <a:pt x="0" y="1500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1027611" cy="1471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42425" y="4294565"/>
            <a:ext cx="2912779" cy="94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1"/>
              </a:lnSpc>
              <a:spcBef>
                <a:spcPct val="0"/>
              </a:spcBef>
            </a:pPr>
            <a:r>
              <a:rPr lang="en-US" sz="7031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42425" y="5702175"/>
            <a:ext cx="2912779" cy="66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FAFAF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Directness</a:t>
            </a:r>
          </a:p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FAFAF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Index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47958" y="6696934"/>
            <a:ext cx="3901711" cy="1894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2000" b="1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Passes / (Possession Events + ε)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 lang="en-US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Captures playing style from patient build-up to direct attacking play.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357589" y="3561084"/>
            <a:ext cx="3901711" cy="5697216"/>
            <a:chOff x="0" y="0"/>
            <a:chExt cx="1027611" cy="15005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7611" cy="1500501"/>
            </a:xfrm>
            <a:custGeom>
              <a:avLst/>
              <a:gdLst/>
              <a:ahLst/>
              <a:cxnLst/>
              <a:rect l="l" t="t" r="r" b="b"/>
              <a:pathLst>
                <a:path w="1027611" h="1500501">
                  <a:moveTo>
                    <a:pt x="0" y="0"/>
                  </a:moveTo>
                  <a:lnTo>
                    <a:pt x="1027611" y="0"/>
                  </a:lnTo>
                  <a:lnTo>
                    <a:pt x="1027611" y="1500501"/>
                  </a:lnTo>
                  <a:lnTo>
                    <a:pt x="0" y="1500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027611" cy="1471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852055" y="4294565"/>
            <a:ext cx="2912779" cy="94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1"/>
              </a:lnSpc>
              <a:spcBef>
                <a:spcPct val="0"/>
              </a:spcBef>
            </a:pPr>
            <a:r>
              <a:rPr lang="en-US" sz="7031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52055" y="5702175"/>
            <a:ext cx="2912779" cy="66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FAFAF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Chaos</a:t>
            </a:r>
          </a:p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FAFAF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Index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57587" y="6696934"/>
            <a:ext cx="3901711" cy="1894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 lang="en-US" sz="1800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Fouls + 3×Yellow Cards + 5×Red Cards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Quantifies match disruption and disciplinary patterns.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23166" y="5702175"/>
            <a:ext cx="2912779" cy="66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FAFAF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Pressing</a:t>
            </a:r>
          </a:p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FAFAF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Efficiency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6696934"/>
            <a:ext cx="3901711" cy="1894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 lang="en-US" sz="1600" b="1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2000" b="1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Ball Recoveries / (Pressures + ε)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 lang="en-US" sz="1800" u="none" strike="noStrike" spc="-36" dirty="0">
              <a:solidFill>
                <a:srgbClr val="FAFAF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spc="-36" dirty="0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Measures defensive intensity and ball winning effectiveness.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1720256" cy="8722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0256" cy="872242"/>
            </a:xfrm>
            <a:custGeom>
              <a:avLst/>
              <a:gdLst/>
              <a:ahLst/>
              <a:cxnLst/>
              <a:rect l="l" t="t" r="r" b="b"/>
              <a:pathLst>
                <a:path w="1720256" h="872242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869261"/>
                  </a:lnTo>
                  <a:cubicBezTo>
                    <a:pt x="1720256" y="870052"/>
                    <a:pt x="1719942" y="870810"/>
                    <a:pt x="1719383" y="871369"/>
                  </a:cubicBezTo>
                  <a:cubicBezTo>
                    <a:pt x="1718824" y="871928"/>
                    <a:pt x="1718065" y="872242"/>
                    <a:pt x="1717275" y="872242"/>
                  </a:cubicBezTo>
                  <a:lnTo>
                    <a:pt x="2981" y="872242"/>
                  </a:lnTo>
                  <a:cubicBezTo>
                    <a:pt x="2191" y="872242"/>
                    <a:pt x="1432" y="871928"/>
                    <a:pt x="873" y="871369"/>
                  </a:cubicBezTo>
                  <a:cubicBezTo>
                    <a:pt x="314" y="870810"/>
                    <a:pt x="0" y="870052"/>
                    <a:pt x="0" y="869261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20256" cy="910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28800" y="4527041"/>
            <a:ext cx="6908298" cy="212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r>
              <a:rPr lang="en-US" sz="2400" b="1" u="none" strike="noStrike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5-Match Rolling Window</a:t>
            </a: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endParaRPr lang="en-US" sz="2400" b="1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r>
              <a:rPr lang="en-US" sz="2400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Estimating a pre-match tactical state, by computing all features over the last </a:t>
            </a:r>
            <a:r>
              <a:rPr lang="en-US" sz="2400" b="1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5 </a:t>
            </a:r>
            <a:r>
              <a:rPr lang="en-US" sz="2400" b="1" spc="-34" dirty="0" err="1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matchs</a:t>
            </a:r>
            <a:r>
              <a:rPr lang="en-US" sz="2400" b="1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shifted by </a:t>
            </a:r>
            <a:r>
              <a:rPr lang="en-US" sz="2400" b="1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k=1 </a:t>
            </a:r>
            <a:r>
              <a:rPr lang="en-US" sz="2400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to avoid data leakage.</a:t>
            </a:r>
            <a:endParaRPr lang="en-US" sz="2400" u="none" strike="noStrike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endParaRPr lang="en-US" sz="1715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endParaRPr lang="en-US" sz="1715" u="none" strike="noStrike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439401" y="4379880"/>
            <a:ext cx="6425948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402"/>
              </a:lnSpc>
              <a:spcBef>
                <a:spcPct val="0"/>
              </a:spcBef>
            </a:pPr>
            <a:r>
              <a:rPr lang="en-US" sz="2800" b="1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Volatility Features</a:t>
            </a:r>
          </a:p>
          <a:p>
            <a:pPr lvl="0" algn="just">
              <a:lnSpc>
                <a:spcPts val="2402"/>
              </a:lnSpc>
              <a:spcBef>
                <a:spcPct val="0"/>
              </a:spcBef>
            </a:pPr>
            <a:endParaRPr lang="en-US" sz="2800" b="1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 algn="just">
              <a:lnSpc>
                <a:spcPts val="2402"/>
              </a:lnSpc>
              <a:spcBef>
                <a:spcPct val="0"/>
              </a:spcBef>
            </a:pPr>
            <a:r>
              <a:rPr lang="en-US" sz="2400" spc="-34" dirty="0" err="1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Exctracted</a:t>
            </a:r>
            <a:r>
              <a:rPr lang="en-US" sz="2400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b="1" spc="-34" dirty="0" err="1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xG</a:t>
            </a:r>
            <a:r>
              <a:rPr lang="en-US" sz="2400" b="1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Volatility </a:t>
            </a:r>
            <a:r>
              <a:rPr lang="en-US" sz="2400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measures attacking consistency and </a:t>
            </a:r>
            <a:r>
              <a:rPr lang="en-US" sz="2400" b="1" spc="-34" dirty="0" err="1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xG</a:t>
            </a:r>
            <a:r>
              <a:rPr lang="en-US" sz="2400" b="1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Momentum </a:t>
            </a:r>
            <a:r>
              <a:rPr lang="en-US" sz="2400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to identify teams on a distinct upward or downward trajectory .</a:t>
            </a: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endParaRPr lang="en-US" sz="1715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endParaRPr lang="en-US" sz="2400" b="1" u="none" strike="noStrike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09925" y="2213022"/>
            <a:ext cx="7486517" cy="112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51"/>
              </a:lnSpc>
              <a:spcBef>
                <a:spcPct val="0"/>
              </a:spcBef>
            </a:pPr>
            <a:r>
              <a:rPr lang="en-US" sz="4351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Rolling Tactical Profiles &amp; Contextual Features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2F4ADCF-2233-852F-5B8F-A6AA77C41234}"/>
              </a:ext>
            </a:extLst>
          </p:cNvPr>
          <p:cNvSpPr txBox="1"/>
          <p:nvPr/>
        </p:nvSpPr>
        <p:spPr>
          <a:xfrm>
            <a:off x="6540209" y="6724178"/>
            <a:ext cx="642594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r>
              <a:rPr lang="en-US" sz="2400" b="1" u="none" strike="noStrike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Contextual Enrichment</a:t>
            </a: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endParaRPr lang="en-US" sz="2400" b="1" u="none" strike="noStrike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r>
              <a:rPr lang="en-US" sz="2400" u="none" strike="noStrike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Two critical contextual features augment the tactical profile: </a:t>
            </a:r>
            <a:r>
              <a:rPr lang="en-US" sz="2400" b="1" u="none" strike="noStrike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Home/Away </a:t>
            </a:r>
            <a:r>
              <a:rPr lang="en-US" sz="2400" u="none" strike="noStrike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indicator captures venue advantage effects, while </a:t>
            </a:r>
            <a:r>
              <a:rPr lang="en-US" sz="2400" b="1" u="none" strike="noStrike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Days of Rest </a:t>
            </a:r>
            <a:r>
              <a:rPr lang="en-US" sz="2400" u="none" strike="noStrike" spc="-34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accounts for fatigue and recovery dynamics between matches.</a:t>
            </a: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endParaRPr lang="en-US" sz="1715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02"/>
              </a:lnSpc>
              <a:spcBef>
                <a:spcPct val="0"/>
              </a:spcBef>
            </a:pPr>
            <a:endParaRPr lang="en-US" sz="2400" b="1" u="none" strike="noStrike" spc="-34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27656" y="3184525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727656" y="5143500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727656" y="7109619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268568" y="1733349"/>
            <a:ext cx="758389" cy="681003"/>
            <a:chOff x="0" y="0"/>
            <a:chExt cx="6223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558800"/>
            </a:xfrm>
            <a:custGeom>
              <a:avLst/>
              <a:gdLst/>
              <a:ahLst/>
              <a:cxnLst/>
              <a:rect l="l" t="t" r="r" b="b"/>
              <a:pathLst>
                <a:path w="622300" h="558800">
                  <a:moveTo>
                    <a:pt x="622300" y="139700"/>
                  </a:moveTo>
                  <a:cubicBezTo>
                    <a:pt x="622300" y="62495"/>
                    <a:pt x="559707" y="0"/>
                    <a:pt x="482742" y="0"/>
                  </a:cubicBezTo>
                  <a:lnTo>
                    <a:pt x="0" y="0"/>
                  </a:lnTo>
                  <a:lnTo>
                    <a:pt x="0" y="279400"/>
                  </a:lnTo>
                  <a:lnTo>
                    <a:pt x="139558" y="279400"/>
                  </a:lnTo>
                  <a:cubicBezTo>
                    <a:pt x="62431" y="279400"/>
                    <a:pt x="0" y="342057"/>
                    <a:pt x="0" y="419100"/>
                  </a:cubicBezTo>
                  <a:cubicBezTo>
                    <a:pt x="0" y="496305"/>
                    <a:pt x="62593" y="558800"/>
                    <a:pt x="139558" y="558800"/>
                  </a:cubicBezTo>
                  <a:lnTo>
                    <a:pt x="622137" y="558800"/>
                  </a:lnTo>
                  <a:lnTo>
                    <a:pt x="622137" y="279400"/>
                  </a:lnTo>
                  <a:lnTo>
                    <a:pt x="482580" y="279400"/>
                  </a:lnTo>
                  <a:cubicBezTo>
                    <a:pt x="559707" y="279400"/>
                    <a:pt x="622300" y="216743"/>
                    <a:pt x="622300" y="1397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9700" y="-38100"/>
              <a:ext cx="3429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68568" y="7625914"/>
            <a:ext cx="758389" cy="727435"/>
            <a:chOff x="0" y="0"/>
            <a:chExt cx="622300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8900"/>
              <a:ext cx="6223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68568" y="5619750"/>
            <a:ext cx="758389" cy="758389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68568" y="3660775"/>
            <a:ext cx="758389" cy="75838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80972" y="4182117"/>
            <a:ext cx="6062578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1"/>
              </a:lnSpc>
              <a:spcBef>
                <a:spcPct val="0"/>
              </a:spcBef>
            </a:pPr>
            <a:r>
              <a:rPr lang="en-US" sz="7031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Playstyle Clustering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27656" y="1656556"/>
            <a:ext cx="557937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2"/>
              </a:lnSpc>
              <a:spcBef>
                <a:spcPct val="0"/>
              </a:spcBef>
            </a:pPr>
            <a:r>
              <a:rPr lang="en-US" sz="2400" dirty="0">
                <a:latin typeface="Proxima Nova" panose="020B0604020202020204" charset="0"/>
              </a:rPr>
              <a:t>Applied </a:t>
            </a:r>
            <a:r>
              <a:rPr lang="en-US" sz="2400" b="1" dirty="0">
                <a:latin typeface="Proxima Nova" panose="020B0604020202020204" charset="0"/>
              </a:rPr>
              <a:t>K-Means clustering</a:t>
            </a:r>
            <a:r>
              <a:rPr lang="en-US" sz="2400" dirty="0">
                <a:latin typeface="Proxima Nova" panose="020B0604020202020204" charset="0"/>
              </a:rPr>
              <a:t> to 13 rolling features to group team behaviors into archetypes.</a:t>
            </a:r>
            <a:endParaRPr lang="en-US" sz="2400" u="none" strike="noStrike" spc="-34" dirty="0">
              <a:solidFill>
                <a:srgbClr val="2A2E3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727656" y="5581650"/>
            <a:ext cx="557937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2"/>
              </a:lnSpc>
              <a:spcBef>
                <a:spcPct val="0"/>
              </a:spcBef>
            </a:pPr>
            <a:r>
              <a:rPr lang="en-US" sz="2400" b="1" dirty="0">
                <a:latin typeface="Proxima Nova" panose="020B0604020202020204" charset="0"/>
              </a:rPr>
              <a:t>PCA</a:t>
            </a:r>
            <a:r>
              <a:rPr lang="en-US" sz="2400" dirty="0">
                <a:latin typeface="Proxima Nova" panose="020B0604020202020204" charset="0"/>
              </a:rPr>
              <a:t> was explicitly avoided to ensure each cluster remains directly explainable in football terms.</a:t>
            </a:r>
            <a:endParaRPr lang="en-US" sz="2400" u="none" strike="noStrike" spc="-34" dirty="0">
              <a:solidFill>
                <a:srgbClr val="2A2E3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727656" y="3622675"/>
            <a:ext cx="557937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2"/>
              </a:lnSpc>
              <a:spcBef>
                <a:spcPct val="0"/>
              </a:spcBef>
            </a:pPr>
            <a:r>
              <a:rPr lang="en-US" sz="2400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While Mathematical Validation (</a:t>
            </a:r>
            <a:r>
              <a:rPr lang="en-US" sz="2400" b="1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Elbow/Silhouette) </a:t>
            </a:r>
            <a:r>
              <a:rPr lang="en-US" sz="2400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suggested 5, I selected </a:t>
            </a:r>
            <a:r>
              <a:rPr lang="en-US" sz="2400" b="1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K=8 </a:t>
            </a:r>
            <a:r>
              <a:rPr lang="en-US" sz="2400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for more tactical diversity. 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27656" y="7547769"/>
            <a:ext cx="5579372" cy="12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2"/>
              </a:lnSpc>
              <a:spcBef>
                <a:spcPct val="0"/>
              </a:spcBef>
            </a:pPr>
            <a:r>
              <a:rPr lang="en-US" sz="2400" dirty="0">
                <a:latin typeface="Proxima Nova" panose="020B0604020202020204" charset="0"/>
              </a:rPr>
              <a:t>All features were scaled using </a:t>
            </a:r>
            <a:r>
              <a:rPr lang="en-US" sz="2400" b="1" dirty="0" err="1">
                <a:latin typeface="Proxima Nova" panose="020B0604020202020204" charset="0"/>
              </a:rPr>
              <a:t>StandardScaler</a:t>
            </a:r>
            <a:r>
              <a:rPr lang="en-US" sz="2400" dirty="0">
                <a:latin typeface="Proxima Nova" panose="020B0604020202020204" charset="0"/>
              </a:rPr>
              <a:t> so that high-volume metrics like passes do not dominate the distance metric.</a:t>
            </a:r>
            <a:endParaRPr lang="en-US" sz="2400" spc="-34" dirty="0">
              <a:solidFill>
                <a:srgbClr val="2A2E3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6DFF8-EABD-373A-17AF-909ADC4E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FA4A10E-42C2-F755-B721-BAAB28231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139" y="1409700"/>
            <a:ext cx="12517721" cy="746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75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D20A9-D4AA-3951-E1F2-EE3FEEAD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B2FCCF-E1C0-95B2-6D82-B42402F9D1F1}"/>
              </a:ext>
            </a:extLst>
          </p:cNvPr>
          <p:cNvSpPr txBox="1"/>
          <p:nvPr/>
        </p:nvSpPr>
        <p:spPr>
          <a:xfrm>
            <a:off x="1676400" y="1066800"/>
            <a:ext cx="15849600" cy="8153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8692F2-7E05-6669-3B1C-5C50B4ABE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296467"/>
              </p:ext>
            </p:extLst>
          </p:nvPr>
        </p:nvGraphicFramePr>
        <p:xfrm>
          <a:off x="1981200" y="1409700"/>
          <a:ext cx="15240000" cy="75591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93682">
                  <a:extLst>
                    <a:ext uri="{9D8B030D-6E8A-4147-A177-3AD203B41FA5}">
                      <a16:colId xmlns:a16="http://schemas.microsoft.com/office/drawing/2014/main" val="964033656"/>
                    </a:ext>
                  </a:extLst>
                </a:gridCol>
                <a:gridCol w="3917151">
                  <a:extLst>
                    <a:ext uri="{9D8B030D-6E8A-4147-A177-3AD203B41FA5}">
                      <a16:colId xmlns:a16="http://schemas.microsoft.com/office/drawing/2014/main" val="2922712022"/>
                    </a:ext>
                  </a:extLst>
                </a:gridCol>
                <a:gridCol w="9229167">
                  <a:extLst>
                    <a:ext uri="{9D8B030D-6E8A-4147-A177-3AD203B41FA5}">
                      <a16:colId xmlns:a16="http://schemas.microsoft.com/office/drawing/2014/main" val="635800113"/>
                    </a:ext>
                  </a:extLst>
                </a:gridCol>
              </a:tblGrid>
              <a:tr h="3217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8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  Cluster ID</a:t>
                      </a:r>
                      <a:endParaRPr lang="en-US" sz="28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</a:t>
                      </a:r>
                      <a:r>
                        <a:rPr lang="en-US" sz="28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Tactical Label</a:t>
                      </a:r>
                      <a:endParaRPr lang="en-US" sz="28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8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  Defining Characteristics</a:t>
                      </a:r>
                      <a:endParaRPr lang="en-US" sz="28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6356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0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High-Pressing Possession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High Pass Volume, High Pressing Efficiency, High </a:t>
                      </a:r>
                      <a:r>
                        <a:rPr lang="en-US" sz="2000" b="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xG</a:t>
                      </a: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888566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 1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Low-Block Counter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Negative Pressing, High Directness, Low Possession.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67618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 2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Mid-Block Transition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Average Pressing, High Interceptions, Balanced Directness.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22553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 3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Direct Long Ball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Peak Directness Index, Low Pass Accuracy, High Chaos Index.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508119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 4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Tiki-Taka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Max Pass Volume, Peak Possession, High Shot Quality.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508303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 5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Wing-Play Overload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High Shot Volume, Mid-Directness, Specific Formation Bias.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897229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 6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High-Intensity </a:t>
                      </a:r>
                      <a:r>
                        <a:rPr lang="en-US" sz="2000" b="1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Gegenpress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Max Pressures, Max Ball Recoveries, High </a:t>
                      </a:r>
                      <a:r>
                        <a:rPr lang="en-US" sz="2000" b="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xG</a:t>
                      </a: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Volatility.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468801"/>
                  </a:ext>
                </a:extLst>
              </a:tr>
              <a:tr h="855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  7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Park the Bus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 Minimized </a:t>
                      </a:r>
                      <a:r>
                        <a:rPr lang="en-US" sz="2000" b="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xG</a:t>
                      </a:r>
                      <a:r>
                        <a:rPr lang="en-US" sz="20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, Max Chaos Index, Negative Pressing.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0" marR="85685" marT="34274" marB="2570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72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375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C2C4-AD2B-46DA-460B-446D7CF5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A9E059D-BD8F-8B32-8761-9A7C9E241D4F}"/>
              </a:ext>
            </a:extLst>
          </p:cNvPr>
          <p:cNvSpPr/>
          <p:nvPr/>
        </p:nvSpPr>
        <p:spPr>
          <a:xfrm>
            <a:off x="10727656" y="3184525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DC19CFD-61E6-78C1-C261-8CC14696345D}"/>
              </a:ext>
            </a:extLst>
          </p:cNvPr>
          <p:cNvSpPr/>
          <p:nvPr/>
        </p:nvSpPr>
        <p:spPr>
          <a:xfrm>
            <a:off x="10727656" y="5143500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EE14F0E-A03D-3C5E-6495-D9ABFEF8C5EF}"/>
              </a:ext>
            </a:extLst>
          </p:cNvPr>
          <p:cNvSpPr/>
          <p:nvPr/>
        </p:nvSpPr>
        <p:spPr>
          <a:xfrm>
            <a:off x="10727656" y="7109619"/>
            <a:ext cx="5579372" cy="0"/>
          </a:xfrm>
          <a:prstGeom prst="line">
            <a:avLst/>
          </a:prstGeom>
          <a:ln w="1905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7D26E11-8628-AF9A-1345-C0BF337E0588}"/>
              </a:ext>
            </a:extLst>
          </p:cNvPr>
          <p:cNvGrpSpPr/>
          <p:nvPr/>
        </p:nvGrpSpPr>
        <p:grpSpPr>
          <a:xfrm>
            <a:off x="9268568" y="1733349"/>
            <a:ext cx="758389" cy="681003"/>
            <a:chOff x="0" y="0"/>
            <a:chExt cx="622300" cy="558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B22505F-A3D3-6235-CCCF-AC69D631359D}"/>
                </a:ext>
              </a:extLst>
            </p:cNvPr>
            <p:cNvSpPr/>
            <p:nvPr/>
          </p:nvSpPr>
          <p:spPr>
            <a:xfrm>
              <a:off x="0" y="0"/>
              <a:ext cx="622300" cy="558800"/>
            </a:xfrm>
            <a:custGeom>
              <a:avLst/>
              <a:gdLst/>
              <a:ahLst/>
              <a:cxnLst/>
              <a:rect l="l" t="t" r="r" b="b"/>
              <a:pathLst>
                <a:path w="622300" h="558800">
                  <a:moveTo>
                    <a:pt x="622300" y="139700"/>
                  </a:moveTo>
                  <a:cubicBezTo>
                    <a:pt x="622300" y="62495"/>
                    <a:pt x="559707" y="0"/>
                    <a:pt x="482742" y="0"/>
                  </a:cubicBezTo>
                  <a:lnTo>
                    <a:pt x="0" y="0"/>
                  </a:lnTo>
                  <a:lnTo>
                    <a:pt x="0" y="279400"/>
                  </a:lnTo>
                  <a:lnTo>
                    <a:pt x="139558" y="279400"/>
                  </a:lnTo>
                  <a:cubicBezTo>
                    <a:pt x="62431" y="279400"/>
                    <a:pt x="0" y="342057"/>
                    <a:pt x="0" y="419100"/>
                  </a:cubicBezTo>
                  <a:cubicBezTo>
                    <a:pt x="0" y="496305"/>
                    <a:pt x="62593" y="558800"/>
                    <a:pt x="139558" y="558800"/>
                  </a:cubicBezTo>
                  <a:lnTo>
                    <a:pt x="622137" y="558800"/>
                  </a:lnTo>
                  <a:lnTo>
                    <a:pt x="622137" y="279400"/>
                  </a:lnTo>
                  <a:lnTo>
                    <a:pt x="482580" y="279400"/>
                  </a:lnTo>
                  <a:cubicBezTo>
                    <a:pt x="559707" y="279400"/>
                    <a:pt x="622300" y="216743"/>
                    <a:pt x="622300" y="1397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11AADE9-4889-DA12-1AE7-B6EC97F80068}"/>
                </a:ext>
              </a:extLst>
            </p:cNvPr>
            <p:cNvSpPr txBox="1"/>
            <p:nvPr/>
          </p:nvSpPr>
          <p:spPr>
            <a:xfrm>
              <a:off x="139700" y="-38100"/>
              <a:ext cx="3429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4F251B5-17CA-5820-4F24-B926E52D50C4}"/>
              </a:ext>
            </a:extLst>
          </p:cNvPr>
          <p:cNvGrpSpPr/>
          <p:nvPr/>
        </p:nvGrpSpPr>
        <p:grpSpPr>
          <a:xfrm>
            <a:off x="9268568" y="7625914"/>
            <a:ext cx="758389" cy="727435"/>
            <a:chOff x="0" y="0"/>
            <a:chExt cx="622300" cy="5969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E4674E4-8687-21AB-54ED-DB86CD81A0F0}"/>
                </a:ext>
              </a:extLst>
            </p:cNvPr>
            <p:cNvSpPr/>
            <p:nvPr/>
          </p:nvSpPr>
          <p:spPr>
            <a:xfrm>
              <a:off x="0" y="0"/>
              <a:ext cx="622300" cy="596900"/>
            </a:xfrm>
            <a:custGeom>
              <a:avLst/>
              <a:gdLst/>
              <a:ahLst/>
              <a:cxnLst/>
              <a:rect l="l" t="t" r="r" b="b"/>
              <a:pathLst>
                <a:path w="622300" h="5969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7595E51-CED7-4954-80E9-BC5AEA003C8A}"/>
                </a:ext>
              </a:extLst>
            </p:cNvPr>
            <p:cNvSpPr txBox="1"/>
            <p:nvPr/>
          </p:nvSpPr>
          <p:spPr>
            <a:xfrm>
              <a:off x="0" y="88900"/>
              <a:ext cx="6223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4C348CB-FE07-C98F-3AA4-7D804DD5B24F}"/>
              </a:ext>
            </a:extLst>
          </p:cNvPr>
          <p:cNvGrpSpPr/>
          <p:nvPr/>
        </p:nvGrpSpPr>
        <p:grpSpPr>
          <a:xfrm>
            <a:off x="9268568" y="5619750"/>
            <a:ext cx="758389" cy="758389"/>
            <a:chOff x="0" y="0"/>
            <a:chExt cx="673100" cy="6731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1CFAE0B-B7C7-5C87-1517-1E9E56620D9B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4E3B65E-903C-39C8-B2F7-07AD5C8C37A9}"/>
                </a:ext>
              </a:extLst>
            </p:cNvPr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B7DB02B-337D-EF5D-91C5-1D0A3861AD9C}"/>
              </a:ext>
            </a:extLst>
          </p:cNvPr>
          <p:cNvGrpSpPr/>
          <p:nvPr/>
        </p:nvGrpSpPr>
        <p:grpSpPr>
          <a:xfrm>
            <a:off x="9268568" y="3660775"/>
            <a:ext cx="758389" cy="758389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EAADE92-79FD-BAD9-2B0C-989D56B0E3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D6DDA44-9DC7-905E-7C50-1FFA985BF189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EA457C0A-1AAE-01D4-B458-8B06BDEBFE5B}"/>
              </a:ext>
            </a:extLst>
          </p:cNvPr>
          <p:cNvSpPr txBox="1"/>
          <p:nvPr/>
        </p:nvSpPr>
        <p:spPr>
          <a:xfrm>
            <a:off x="1980972" y="4182117"/>
            <a:ext cx="606257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1"/>
              </a:lnSpc>
              <a:spcBef>
                <a:spcPct val="0"/>
              </a:spcBef>
            </a:pPr>
            <a:r>
              <a:rPr lang="fr-FR" sz="7031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</a:t>
            </a:r>
            <a:r>
              <a:rPr lang="en-US" sz="7031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odeling</a:t>
            </a:r>
            <a:endParaRPr lang="en-US" sz="7031" b="1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40BE4BD-CA28-187D-61DB-DBC88B3951C4}"/>
              </a:ext>
            </a:extLst>
          </p:cNvPr>
          <p:cNvSpPr txBox="1"/>
          <p:nvPr/>
        </p:nvSpPr>
        <p:spPr>
          <a:xfrm>
            <a:off x="10727656" y="1656556"/>
            <a:ext cx="557937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2"/>
              </a:lnSpc>
              <a:spcBef>
                <a:spcPct val="0"/>
              </a:spcBef>
            </a:pPr>
            <a:r>
              <a:rPr lang="en-US" sz="2400" u="none" strike="noStrike" spc="-34" dirty="0">
                <a:solidFill>
                  <a:srgbClr val="2A2E30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13 Models were trained on the same datase</a:t>
            </a:r>
            <a:r>
              <a:rPr lang="en-US" sz="2400" spc="-34" dirty="0">
                <a:solidFill>
                  <a:srgbClr val="2A2E30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t.</a:t>
            </a:r>
            <a:endParaRPr lang="en-US" sz="2400" u="none" strike="noStrike" spc="-34" dirty="0">
              <a:solidFill>
                <a:srgbClr val="2A2E3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4381162-F1E4-7FF6-B912-9ADBC570DFBD}"/>
              </a:ext>
            </a:extLst>
          </p:cNvPr>
          <p:cNvSpPr txBox="1"/>
          <p:nvPr/>
        </p:nvSpPr>
        <p:spPr>
          <a:xfrm>
            <a:off x="10727656" y="5581650"/>
            <a:ext cx="5579372" cy="12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2"/>
              </a:lnSpc>
              <a:spcBef>
                <a:spcPct val="0"/>
              </a:spcBef>
            </a:pPr>
            <a:r>
              <a:rPr lang="en-US" sz="2400" spc="-34" dirty="0">
                <a:solidFill>
                  <a:srgbClr val="2A2E30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Training Set used for model training and Hyper Parameter tuning via </a:t>
            </a:r>
            <a:r>
              <a:rPr lang="en-US" sz="2400" b="1" dirty="0" err="1">
                <a:latin typeface="Proxima Nova" panose="020B0604020202020204" charset="0"/>
              </a:rPr>
              <a:t>RandomizedSearchCV</a:t>
            </a:r>
            <a:r>
              <a:rPr lang="en-US" sz="2400" dirty="0">
                <a:latin typeface="Proxima Nova" panose="020B0604020202020204" charset="0"/>
              </a:rPr>
              <a:t> with 5-fold cross-validation.</a:t>
            </a:r>
            <a:endParaRPr lang="en-US" sz="2400" spc="-34" dirty="0">
              <a:solidFill>
                <a:srgbClr val="2A2E3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5117BC7-49F9-6983-23E3-54E25064CE15}"/>
              </a:ext>
            </a:extLst>
          </p:cNvPr>
          <p:cNvSpPr txBox="1"/>
          <p:nvPr/>
        </p:nvSpPr>
        <p:spPr>
          <a:xfrm>
            <a:off x="10727656" y="3622675"/>
            <a:ext cx="557937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2"/>
              </a:lnSpc>
              <a:spcBef>
                <a:spcPct val="0"/>
              </a:spcBef>
            </a:pPr>
            <a:r>
              <a:rPr lang="en-US" sz="2400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These models included a variety of </a:t>
            </a:r>
            <a:r>
              <a:rPr lang="en-US" sz="2400" b="1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Ensemble methods </a:t>
            </a:r>
            <a:r>
              <a:rPr lang="en-US" sz="2400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and other </a:t>
            </a:r>
            <a:r>
              <a:rPr lang="en-US" sz="2400" b="1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Traditional Classifiers</a:t>
            </a:r>
            <a:r>
              <a:rPr lang="en-US" sz="2400" spc="-34" dirty="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EE9FA11-AB8E-C415-26F9-D5195A116EE9}"/>
              </a:ext>
            </a:extLst>
          </p:cNvPr>
          <p:cNvSpPr txBox="1"/>
          <p:nvPr/>
        </p:nvSpPr>
        <p:spPr>
          <a:xfrm>
            <a:off x="10727656" y="7547769"/>
            <a:ext cx="5579372" cy="924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2"/>
              </a:lnSpc>
              <a:spcBef>
                <a:spcPct val="0"/>
              </a:spcBef>
            </a:pPr>
            <a:r>
              <a:rPr lang="en-US" sz="2400" dirty="0">
                <a:latin typeface="Proxima Nova" panose="020B0604020202020204" charset="0"/>
              </a:rPr>
              <a:t>The split was </a:t>
            </a:r>
            <a:r>
              <a:rPr lang="en-US" sz="2400" b="1" dirty="0">
                <a:latin typeface="Proxima Nova" panose="020B0604020202020204" charset="0"/>
              </a:rPr>
              <a:t>stratified</a:t>
            </a:r>
            <a:r>
              <a:rPr lang="en-US" sz="2400" dirty="0">
                <a:latin typeface="Proxima Nova" panose="020B0604020202020204" charset="0"/>
              </a:rPr>
              <a:t> to maintain the natural class distribution of Wins, Draws, and Losses across both sets.</a:t>
            </a:r>
            <a:endParaRPr lang="en-US" sz="2400" spc="-34" dirty="0">
              <a:solidFill>
                <a:srgbClr val="2A2E3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359288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1720256" cy="8722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0256" cy="872242"/>
            </a:xfrm>
            <a:custGeom>
              <a:avLst/>
              <a:gdLst/>
              <a:ahLst/>
              <a:cxnLst/>
              <a:rect l="l" t="t" r="r" b="b"/>
              <a:pathLst>
                <a:path w="1720256" h="872242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869261"/>
                  </a:lnTo>
                  <a:cubicBezTo>
                    <a:pt x="1720256" y="870052"/>
                    <a:pt x="1719942" y="870810"/>
                    <a:pt x="1719383" y="871369"/>
                  </a:cubicBezTo>
                  <a:cubicBezTo>
                    <a:pt x="1718824" y="871928"/>
                    <a:pt x="1718065" y="872242"/>
                    <a:pt x="1717275" y="872242"/>
                  </a:cubicBezTo>
                  <a:lnTo>
                    <a:pt x="2981" y="872242"/>
                  </a:lnTo>
                  <a:cubicBezTo>
                    <a:pt x="2191" y="872242"/>
                    <a:pt x="1432" y="871928"/>
                    <a:pt x="873" y="871369"/>
                  </a:cubicBezTo>
                  <a:cubicBezTo>
                    <a:pt x="314" y="870810"/>
                    <a:pt x="0" y="870052"/>
                    <a:pt x="0" y="869261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20256" cy="910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60536" y="5221060"/>
            <a:ext cx="6425949" cy="317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r>
              <a:rPr lang="en-US" sz="1757" b="1" u="none" strike="noStrike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10-Fold Cross-Validation</a:t>
            </a: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r>
              <a:rPr lang="en-US" sz="2000" u="none" strike="noStrike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All models evaluated with 95% confidence intervals to ensure statistical reliability and reproducibility of results</a:t>
            </a:r>
            <a:r>
              <a:rPr lang="en-US" sz="2000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, for the best performing models.</a:t>
            </a:r>
            <a:endParaRPr lang="en-US" sz="2000" u="none" strike="noStrike" spc="-35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endParaRPr lang="en-US" sz="1757" u="none" strike="noStrike" spc="-35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r>
              <a:rPr lang="en-US" sz="1757" b="1" u="none" strike="noStrike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Statistical Significance Testing</a:t>
            </a: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r>
              <a:rPr lang="en-US" sz="2000" u="none" strike="noStrike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McNemar's exact test applied for pairwise model comparisons, confirming performance differences are not due to chance.</a:t>
            </a: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endParaRPr lang="en-US" sz="1757" u="none" strike="noStrike" spc="-35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89252" y="5221060"/>
            <a:ext cx="6425949" cy="317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r>
              <a:rPr lang="en-US" sz="1757" b="1" u="none" strike="noStrike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Leave-One-Competition-Out (LOCO)</a:t>
            </a: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r>
              <a:rPr lang="en-US" sz="2000" u="none" strike="noStrike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Novel evaluation protocol testing generalization to entirely unseen teams and competitions the true test of team-agnostic modeling.</a:t>
            </a: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endParaRPr lang="en-US" sz="2000" spc="-35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 algn="just">
              <a:lnSpc>
                <a:spcPts val="2460"/>
              </a:lnSpc>
              <a:spcBef>
                <a:spcPct val="0"/>
              </a:spcBef>
            </a:pPr>
            <a:r>
              <a:rPr lang="en-US" sz="1757" b="1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8-Configuration Ablation Study</a:t>
            </a:r>
          </a:p>
          <a:p>
            <a:pPr lvl="0" algn="just">
              <a:lnSpc>
                <a:spcPts val="2460"/>
              </a:lnSpc>
              <a:spcBef>
                <a:spcPct val="0"/>
              </a:spcBef>
            </a:pPr>
            <a:r>
              <a:rPr lang="en-US" sz="2000" spc="-35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Systematic feature removal experiments to quantify the contribution of each feature group to model performance.</a:t>
            </a: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endParaRPr lang="en-US" sz="2000" u="none" strike="noStrike" spc="-35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ts val="2460"/>
              </a:lnSpc>
              <a:spcBef>
                <a:spcPct val="0"/>
              </a:spcBef>
            </a:pPr>
            <a:endParaRPr lang="en-US" sz="1757" u="none" strike="noStrike" spc="-35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09925" y="1639256"/>
            <a:ext cx="7486517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51"/>
              </a:lnSpc>
              <a:spcBef>
                <a:spcPct val="0"/>
              </a:spcBef>
            </a:pPr>
            <a:r>
              <a:rPr lang="en-US" sz="4351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Validation Framework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60536" y="4509207"/>
            <a:ext cx="7592648" cy="39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798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Rigorous Evaluation for Reliable Generalization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8AC2A-21AA-3B0B-54E8-29705D49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21922C5-1CA1-B3E8-0747-223256A7570C}"/>
              </a:ext>
            </a:extLst>
          </p:cNvPr>
          <p:cNvGrpSpPr/>
          <p:nvPr/>
        </p:nvGrpSpPr>
        <p:grpSpPr>
          <a:xfrm>
            <a:off x="11507716" y="-297637"/>
            <a:ext cx="7040716" cy="10752058"/>
            <a:chOff x="0" y="0"/>
            <a:chExt cx="1090791" cy="166577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4FB98CB-2970-790F-6828-7B93B837CEE4}"/>
                </a:ext>
              </a:extLst>
            </p:cNvPr>
            <p:cNvSpPr/>
            <p:nvPr/>
          </p:nvSpPr>
          <p:spPr>
            <a:xfrm>
              <a:off x="0" y="0"/>
              <a:ext cx="1090791" cy="1665775"/>
            </a:xfrm>
            <a:custGeom>
              <a:avLst/>
              <a:gdLst/>
              <a:ahLst/>
              <a:cxnLst/>
              <a:rect l="l" t="t" r="r" b="b"/>
              <a:pathLst>
                <a:path w="1090791" h="1665775">
                  <a:moveTo>
                    <a:pt x="0" y="0"/>
                  </a:moveTo>
                  <a:lnTo>
                    <a:pt x="1090791" y="0"/>
                  </a:lnTo>
                  <a:lnTo>
                    <a:pt x="1090791" y="1665775"/>
                  </a:lnTo>
                  <a:lnTo>
                    <a:pt x="0" y="1665775"/>
                  </a:lnTo>
                  <a:close/>
                </a:path>
              </a:pathLst>
            </a:custGeom>
            <a:blipFill>
              <a:blip r:embed="rId2"/>
              <a:stretch>
                <a:fillRect l="-1445" r="-14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8DC7AC97-0C8E-3494-5528-7586203982E9}"/>
              </a:ext>
            </a:extLst>
          </p:cNvPr>
          <p:cNvSpPr/>
          <p:nvPr/>
        </p:nvSpPr>
        <p:spPr>
          <a:xfrm flipV="1">
            <a:off x="1309026" y="5026004"/>
            <a:ext cx="6263535" cy="0"/>
          </a:xfrm>
          <a:prstGeom prst="line">
            <a:avLst/>
          </a:prstGeom>
          <a:ln w="104775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E70A6-1F36-B8AC-0C1B-B4FEB9C154BF}"/>
              </a:ext>
            </a:extLst>
          </p:cNvPr>
          <p:cNvSpPr txBox="1"/>
          <p:nvPr/>
        </p:nvSpPr>
        <p:spPr>
          <a:xfrm>
            <a:off x="609600" y="4597196"/>
            <a:ext cx="1117962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fr-FR" sz="8000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Results</a:t>
            </a:r>
            <a:r>
              <a:rPr lang="fr-FR" sz="8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and </a:t>
            </a:r>
            <a:r>
              <a:rPr lang="fr-FR" sz="8000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Findings</a:t>
            </a:r>
            <a:endParaRPr lang="en-US" sz="8000" b="1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</p:spTree>
    <p:extLst>
      <p:ext uri="{BB962C8B-B14F-4D97-AF65-F5344CB8AC3E}">
        <p14:creationId xmlns:p14="http://schemas.microsoft.com/office/powerpoint/2010/main" val="1189140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19842" y="1159727"/>
            <a:ext cx="6090065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6"/>
              </a:lnSpc>
              <a:spcBef>
                <a:spcPct val="0"/>
              </a:spcBef>
            </a:pPr>
            <a:r>
              <a:rPr lang="en-US" sz="7156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Results: Models Performance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A2536-DADF-4326-A797-C547B6272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747397"/>
              </p:ext>
            </p:extLst>
          </p:nvPr>
        </p:nvGraphicFramePr>
        <p:xfrm>
          <a:off x="7924801" y="190500"/>
          <a:ext cx="10210800" cy="98297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24260">
                  <a:extLst>
                    <a:ext uri="{9D8B030D-6E8A-4147-A177-3AD203B41FA5}">
                      <a16:colId xmlns:a16="http://schemas.microsoft.com/office/drawing/2014/main" val="1492069797"/>
                    </a:ext>
                  </a:extLst>
                </a:gridCol>
                <a:gridCol w="1152164">
                  <a:extLst>
                    <a:ext uri="{9D8B030D-6E8A-4147-A177-3AD203B41FA5}">
                      <a16:colId xmlns:a16="http://schemas.microsoft.com/office/drawing/2014/main" val="2911711873"/>
                    </a:ext>
                  </a:extLst>
                </a:gridCol>
                <a:gridCol w="1056150">
                  <a:extLst>
                    <a:ext uri="{9D8B030D-6E8A-4147-A177-3AD203B41FA5}">
                      <a16:colId xmlns:a16="http://schemas.microsoft.com/office/drawing/2014/main" val="1171110609"/>
                    </a:ext>
                  </a:extLst>
                </a:gridCol>
                <a:gridCol w="1152164">
                  <a:extLst>
                    <a:ext uri="{9D8B030D-6E8A-4147-A177-3AD203B41FA5}">
                      <a16:colId xmlns:a16="http://schemas.microsoft.com/office/drawing/2014/main" val="872477580"/>
                    </a:ext>
                  </a:extLst>
                </a:gridCol>
                <a:gridCol w="1152164">
                  <a:extLst>
                    <a:ext uri="{9D8B030D-6E8A-4147-A177-3AD203B41FA5}">
                      <a16:colId xmlns:a16="http://schemas.microsoft.com/office/drawing/2014/main" val="1651300203"/>
                    </a:ext>
                  </a:extLst>
                </a:gridCol>
                <a:gridCol w="1248178">
                  <a:extLst>
                    <a:ext uri="{9D8B030D-6E8A-4147-A177-3AD203B41FA5}">
                      <a16:colId xmlns:a16="http://schemas.microsoft.com/office/drawing/2014/main" val="2060291326"/>
                    </a:ext>
                  </a:extLst>
                </a:gridCol>
                <a:gridCol w="1248178">
                  <a:extLst>
                    <a:ext uri="{9D8B030D-6E8A-4147-A177-3AD203B41FA5}">
                      <a16:colId xmlns:a16="http://schemas.microsoft.com/office/drawing/2014/main" val="3162617063"/>
                    </a:ext>
                  </a:extLst>
                </a:gridCol>
                <a:gridCol w="1377542">
                  <a:extLst>
                    <a:ext uri="{9D8B030D-6E8A-4147-A177-3AD203B41FA5}">
                      <a16:colId xmlns:a16="http://schemas.microsoft.com/office/drawing/2014/main" val="2190851642"/>
                    </a:ext>
                  </a:extLst>
                </a:gridCol>
              </a:tblGrid>
              <a:tr h="6333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Model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Accuracy (%)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Log Loss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ROC-AUC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F1-Score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Precision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Recall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Family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3178050102"/>
                  </a:ext>
                </a:extLst>
              </a:tr>
              <a:tr h="6251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CatBoost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†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60.90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0.9289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0.7268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0.5817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0.5870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0.6090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Boosting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120842054"/>
                  </a:ext>
                </a:extLst>
              </a:tr>
              <a:tr h="6251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Extra Trees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59.40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0.9340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0.7325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0.5402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0.6112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0.5940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Ensemble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3396334957"/>
                  </a:ext>
                </a:extLst>
              </a:tr>
              <a:tr h="5565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LightGBM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57.14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0.9345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0.7196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0.5173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0.5239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0.5714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Boosting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2980940019"/>
                  </a:ext>
                </a:extLst>
              </a:tr>
              <a:tr h="3627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XGBoost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56.39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0.9271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0.7406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0.5186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0.5536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0.5639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Boosting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4213483710"/>
                  </a:ext>
                </a:extLst>
              </a:tr>
              <a:tr h="9002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Logistic Regression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55.64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0.9207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0.7244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0.4894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0.4385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0.5564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Linear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1497344481"/>
                  </a:ext>
                </a:extLst>
              </a:tr>
              <a:tr h="6251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Gradient Boosting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55.64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0.9393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0.7198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0.5126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0.5231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0.5564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Boosting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141424103"/>
                  </a:ext>
                </a:extLst>
              </a:tr>
              <a:tr h="6251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Random Forest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55.64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0.9414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0.7122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0.4890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0.4457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0.5564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Ensemble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1276992215"/>
                  </a:ext>
                </a:extLst>
              </a:tr>
              <a:tr h="8015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SVC (RBF Kernel)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53.38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0.9575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0.7090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0.4429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0.4268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0.5338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Kernel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3482204172"/>
                  </a:ext>
                </a:extLst>
              </a:tr>
              <a:tr h="8015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Bagging Classifier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53.38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0.9625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0.7006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0.5146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0.5158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0.5338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Ensemble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481383529"/>
                  </a:ext>
                </a:extLst>
              </a:tr>
              <a:tr h="3627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ANN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53.38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0.9679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0.6943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0.4820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0.4683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0.5338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Neural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2039773913"/>
                  </a:ext>
                </a:extLst>
              </a:tr>
              <a:tr h="12388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AdaBoost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53.38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1.0094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0.6426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0.4641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0.4450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0.5338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Boosting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3057195722"/>
                  </a:ext>
                </a:extLst>
              </a:tr>
              <a:tr h="10464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K-Nearest Neighbors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51.13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1.2392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0.6923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0.5027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0.4969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0.5113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Instance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2066908558"/>
                  </a:ext>
                </a:extLst>
              </a:tr>
              <a:tr h="6251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TabPFN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41.35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1.0887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0.6307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0.3080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0.4892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0.4135</a:t>
                      </a:r>
                    </a:p>
                  </a:txBody>
                  <a:tcPr marL="37370" marR="31142" marT="41523" marB="4152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Foundation</a:t>
                      </a:r>
                    </a:p>
                  </a:txBody>
                  <a:tcPr marL="37370" marR="37370" marT="41523" marB="41523" anchor="ctr"/>
                </a:tc>
                <a:extLst>
                  <a:ext uri="{0D108BD9-81ED-4DB2-BD59-A6C34878D82A}">
                    <a16:rowId xmlns:a16="http://schemas.microsoft.com/office/drawing/2014/main" val="1394022553"/>
                  </a:ext>
                </a:extLst>
              </a:tr>
            </a:tbl>
          </a:graphicData>
        </a:graphic>
      </p:graphicFrame>
      <p:sp>
        <p:nvSpPr>
          <p:cNvPr id="9" name="TextBox 12">
            <a:extLst>
              <a:ext uri="{FF2B5EF4-FFF2-40B4-BE49-F238E27FC236}">
                <a16:creationId xmlns:a16="http://schemas.microsoft.com/office/drawing/2014/main" id="{4069F058-94B5-E86B-01B4-BF6E3E6E0733}"/>
              </a:ext>
            </a:extLst>
          </p:cNvPr>
          <p:cNvSpPr txBox="1"/>
          <p:nvPr/>
        </p:nvSpPr>
        <p:spPr>
          <a:xfrm>
            <a:off x="8153400" y="3765728"/>
            <a:ext cx="8181150" cy="60471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3AF2C-F178-D82A-2326-EAFE63D8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AE1E0F7-A9D4-5971-6020-7C56537E6440}"/>
              </a:ext>
            </a:extLst>
          </p:cNvPr>
          <p:cNvSpPr txBox="1"/>
          <p:nvPr/>
        </p:nvSpPr>
        <p:spPr>
          <a:xfrm>
            <a:off x="1419842" y="1159727"/>
            <a:ext cx="6090065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6"/>
              </a:lnSpc>
              <a:spcBef>
                <a:spcPct val="0"/>
              </a:spcBef>
            </a:pPr>
            <a:r>
              <a:rPr lang="en-US" sz="7156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Results: </a:t>
            </a:r>
            <a:r>
              <a:rPr lang="en-US" sz="7156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Training </a:t>
            </a:r>
            <a:r>
              <a:rPr lang="en-US" sz="7156" b="1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Cv</a:t>
            </a:r>
            <a:r>
              <a:rPr lang="en-US" sz="7156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vs Test</a:t>
            </a:r>
            <a:endParaRPr lang="en-US" sz="7156" b="1" u="none" strike="noStrike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81F51D-3BAA-7292-6D1C-508D145F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882165"/>
              </p:ext>
            </p:extLst>
          </p:nvPr>
        </p:nvGraphicFramePr>
        <p:xfrm>
          <a:off x="8077200" y="1333500"/>
          <a:ext cx="9448798" cy="77937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16479">
                  <a:extLst>
                    <a:ext uri="{9D8B030D-6E8A-4147-A177-3AD203B41FA5}">
                      <a16:colId xmlns:a16="http://schemas.microsoft.com/office/drawing/2014/main" val="1405712912"/>
                    </a:ext>
                  </a:extLst>
                </a:gridCol>
                <a:gridCol w="2316479">
                  <a:extLst>
                    <a:ext uri="{9D8B030D-6E8A-4147-A177-3AD203B41FA5}">
                      <a16:colId xmlns:a16="http://schemas.microsoft.com/office/drawing/2014/main" val="2312664788"/>
                    </a:ext>
                  </a:extLst>
                </a:gridCol>
                <a:gridCol w="2316479">
                  <a:extLst>
                    <a:ext uri="{9D8B030D-6E8A-4147-A177-3AD203B41FA5}">
                      <a16:colId xmlns:a16="http://schemas.microsoft.com/office/drawing/2014/main" val="1922779271"/>
                    </a:ext>
                  </a:extLst>
                </a:gridCol>
                <a:gridCol w="2499361">
                  <a:extLst>
                    <a:ext uri="{9D8B030D-6E8A-4147-A177-3AD203B41FA5}">
                      <a16:colId xmlns:a16="http://schemas.microsoft.com/office/drawing/2014/main" val="347038088"/>
                    </a:ext>
                  </a:extLst>
                </a:gridCol>
              </a:tblGrid>
              <a:tr h="2682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Model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Train Accuracy (CV)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Test Accuracy (Holdout)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Difference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237256913"/>
                  </a:ext>
                </a:extLst>
              </a:tr>
              <a:tr h="17037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 err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CatBoost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55.50% ± 2.45%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60.90%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+5.40%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317859074"/>
                  </a:ext>
                </a:extLst>
              </a:tr>
              <a:tr h="17037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Extra Trees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54.91% ± 3.93%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59.40%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+4.49%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882831029"/>
                  </a:ext>
                </a:extLst>
              </a:tr>
              <a:tr h="170375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XGBoost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52.49% ± 4.58%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56.39%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+3.90%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740814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028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0CDF3-F7E1-256D-143B-06F04C80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699EEB3-3286-F61D-4C4E-81C627035462}"/>
              </a:ext>
            </a:extLst>
          </p:cNvPr>
          <p:cNvSpPr txBox="1"/>
          <p:nvPr/>
        </p:nvSpPr>
        <p:spPr>
          <a:xfrm>
            <a:off x="1419842" y="1159727"/>
            <a:ext cx="6090065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6"/>
              </a:lnSpc>
              <a:spcBef>
                <a:spcPct val="0"/>
              </a:spcBef>
            </a:pPr>
            <a:r>
              <a:rPr lang="en-US" sz="7156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Results: </a:t>
            </a:r>
            <a:r>
              <a:rPr lang="en-US" sz="7156" b="1" u="none" strike="noStrike" dirty="0" err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McNemars</a:t>
            </a:r>
            <a:r>
              <a:rPr lang="en-US" sz="7156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test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2CE1E0-5192-C6CF-66C2-00843A86D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415477"/>
              </p:ext>
            </p:extLst>
          </p:nvPr>
        </p:nvGraphicFramePr>
        <p:xfrm>
          <a:off x="7330156" y="1333500"/>
          <a:ext cx="9575291" cy="701243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62019">
                  <a:extLst>
                    <a:ext uri="{9D8B030D-6E8A-4147-A177-3AD203B41FA5}">
                      <a16:colId xmlns:a16="http://schemas.microsoft.com/office/drawing/2014/main" val="2516569453"/>
                    </a:ext>
                  </a:extLst>
                </a:gridCol>
                <a:gridCol w="1903318">
                  <a:extLst>
                    <a:ext uri="{9D8B030D-6E8A-4147-A177-3AD203B41FA5}">
                      <a16:colId xmlns:a16="http://schemas.microsoft.com/office/drawing/2014/main" val="920627367"/>
                    </a:ext>
                  </a:extLst>
                </a:gridCol>
                <a:gridCol w="1903318">
                  <a:extLst>
                    <a:ext uri="{9D8B030D-6E8A-4147-A177-3AD203B41FA5}">
                      <a16:colId xmlns:a16="http://schemas.microsoft.com/office/drawing/2014/main" val="2293345445"/>
                    </a:ext>
                  </a:extLst>
                </a:gridCol>
                <a:gridCol w="1903318">
                  <a:extLst>
                    <a:ext uri="{9D8B030D-6E8A-4147-A177-3AD203B41FA5}">
                      <a16:colId xmlns:a16="http://schemas.microsoft.com/office/drawing/2014/main" val="3525795370"/>
                    </a:ext>
                  </a:extLst>
                </a:gridCol>
                <a:gridCol w="1903318">
                  <a:extLst>
                    <a:ext uri="{9D8B030D-6E8A-4147-A177-3AD203B41FA5}">
                      <a16:colId xmlns:a16="http://schemas.microsoft.com/office/drawing/2014/main" val="370981786"/>
                    </a:ext>
                  </a:extLst>
                </a:gridCol>
              </a:tblGrid>
              <a:tr h="17955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Model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Accuracy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F1-Score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McNemar p-value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Binary Size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extLst>
                  <a:ext uri="{0D108BD9-81ED-4DB2-BD59-A6C34878D82A}">
                    <a16:rowId xmlns:a16="http://schemas.microsoft.com/office/drawing/2014/main" val="2982602038"/>
                  </a:ext>
                </a:extLst>
              </a:tr>
              <a:tr h="11404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 err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CatBoost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60.90%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0.582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—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428 KB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extLst>
                  <a:ext uri="{0D108BD9-81ED-4DB2-BD59-A6C34878D82A}">
                    <a16:rowId xmlns:a16="http://schemas.microsoft.com/office/drawing/2014/main" val="429957918"/>
                  </a:ext>
                </a:extLst>
              </a:tr>
              <a:tr h="11404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Extra Trees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59.40%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0.540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0.4807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1,800 KB</a:t>
                      </a:r>
                    </a:p>
                  </a:txBody>
                  <a:tcPr marR="76200" marT="101600" marB="101600" anchor="ctr"/>
                </a:tc>
                <a:extLst>
                  <a:ext uri="{0D108BD9-81ED-4DB2-BD59-A6C34878D82A}">
                    <a16:rowId xmlns:a16="http://schemas.microsoft.com/office/drawing/2014/main" val="1751258606"/>
                  </a:ext>
                </a:extLst>
              </a:tr>
              <a:tr h="11404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XGBoost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56.39%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0.519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0.1221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1,900 KB</a:t>
                      </a:r>
                    </a:p>
                  </a:txBody>
                  <a:tcPr marR="76200" marT="101600" marB="101600" anchor="ctr"/>
                </a:tc>
                <a:extLst>
                  <a:ext uri="{0D108BD9-81ED-4DB2-BD59-A6C34878D82A}">
                    <a16:rowId xmlns:a16="http://schemas.microsoft.com/office/drawing/2014/main" val="2546149386"/>
                  </a:ext>
                </a:extLst>
              </a:tr>
              <a:tr h="17955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Log. Regression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55.64%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0.489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0.0009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Proxima Nova" panose="020B0604020202020204" charset="0"/>
                        </a:rPr>
                        <a:t>&lt; 10 KB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Proxima Nova" panose="020B0604020202020204" charset="0"/>
                      </a:endParaRPr>
                    </a:p>
                  </a:txBody>
                  <a:tcPr marR="76200" marT="101600" marB="101600" anchor="ctr"/>
                </a:tc>
                <a:extLst>
                  <a:ext uri="{0D108BD9-81ED-4DB2-BD59-A6C34878D82A}">
                    <a16:rowId xmlns:a16="http://schemas.microsoft.com/office/drawing/2014/main" val="1198475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667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88784-9EE8-9D50-760A-961131CB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FE93075A-6D9F-8106-FF66-0CDA0AE4874C}"/>
              </a:ext>
            </a:extLst>
          </p:cNvPr>
          <p:cNvSpPr txBox="1"/>
          <p:nvPr/>
        </p:nvSpPr>
        <p:spPr>
          <a:xfrm>
            <a:off x="1419842" y="1159727"/>
            <a:ext cx="6090065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6"/>
              </a:lnSpc>
              <a:spcBef>
                <a:spcPct val="0"/>
              </a:spcBef>
            </a:pPr>
            <a:r>
              <a:rPr lang="en-US" sz="7156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Results: </a:t>
            </a:r>
            <a:r>
              <a:rPr lang="en-US" sz="7156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Features Importance</a:t>
            </a:r>
            <a:endParaRPr lang="en-US" sz="7156" b="1" u="none" strike="noStrike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B5EDCB-3A9E-7646-37C5-54A0C627A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692810"/>
            <a:ext cx="11430000" cy="72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56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3135" y="5408720"/>
            <a:ext cx="1207268" cy="1267956"/>
            <a:chOff x="0" y="0"/>
            <a:chExt cx="516163" cy="5421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163" cy="542110"/>
            </a:xfrm>
            <a:custGeom>
              <a:avLst/>
              <a:gdLst/>
              <a:ahLst/>
              <a:cxnLst/>
              <a:rect l="l" t="t" r="r" b="b"/>
              <a:pathLst>
                <a:path w="516163" h="542110">
                  <a:moveTo>
                    <a:pt x="0" y="0"/>
                  </a:moveTo>
                  <a:lnTo>
                    <a:pt x="516163" y="0"/>
                  </a:lnTo>
                  <a:lnTo>
                    <a:pt x="516163" y="542110"/>
                  </a:lnTo>
                  <a:lnTo>
                    <a:pt x="0" y="542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6163" cy="580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38435" y="5408720"/>
            <a:ext cx="1207268" cy="1267956"/>
            <a:chOff x="0" y="0"/>
            <a:chExt cx="516163" cy="542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163" cy="542110"/>
            </a:xfrm>
            <a:custGeom>
              <a:avLst/>
              <a:gdLst/>
              <a:ahLst/>
              <a:cxnLst/>
              <a:rect l="l" t="t" r="r" b="b"/>
              <a:pathLst>
                <a:path w="516163" h="542110">
                  <a:moveTo>
                    <a:pt x="0" y="0"/>
                  </a:moveTo>
                  <a:lnTo>
                    <a:pt x="516163" y="0"/>
                  </a:lnTo>
                  <a:lnTo>
                    <a:pt x="516163" y="542110"/>
                  </a:lnTo>
                  <a:lnTo>
                    <a:pt x="0" y="542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16163" cy="580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2169" y="5650144"/>
            <a:ext cx="1009199" cy="84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95"/>
              </a:lnSpc>
              <a:spcBef>
                <a:spcPct val="0"/>
              </a:spcBef>
            </a:pPr>
            <a:r>
              <a:rPr lang="en-US" sz="6395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37469" y="5650144"/>
            <a:ext cx="1009199" cy="84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95"/>
              </a:lnSpc>
              <a:spcBef>
                <a:spcPct val="0"/>
              </a:spcBef>
            </a:pPr>
            <a:r>
              <a:rPr lang="en-US" sz="6395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98757" y="6157134"/>
            <a:ext cx="5350808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just">
              <a:lnSpc>
                <a:spcPts val="2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Removing volatility features: </a:t>
            </a:r>
            <a:r>
              <a:rPr lang="en-US" sz="2400" b="1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-1.66%</a:t>
            </a:r>
          </a:p>
          <a:p>
            <a:pPr marL="342900" lvl="0" indent="-342900" algn="just">
              <a:lnSpc>
                <a:spcPts val="2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Removing contextual features: </a:t>
            </a:r>
            <a:r>
              <a:rPr lang="en-US" sz="2400" b="1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-1.21%</a:t>
            </a:r>
          </a:p>
          <a:p>
            <a:pPr marL="342900" lvl="0" indent="-342900" algn="just">
              <a:lnSpc>
                <a:spcPts val="2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Tactical cluster removal: </a:t>
            </a:r>
            <a:r>
              <a:rPr lang="en-US" sz="2400" b="1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-0.91%</a:t>
            </a:r>
          </a:p>
          <a:p>
            <a:pPr marL="342900" lvl="0" indent="-342900" algn="just">
              <a:lnSpc>
                <a:spcPts val="2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Engineered ratios removal: </a:t>
            </a:r>
            <a:r>
              <a:rPr lang="en-US" sz="2400" b="1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-0.15%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14057" y="6157134"/>
            <a:ext cx="5350808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just">
              <a:lnSpc>
                <a:spcPts val="2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Window size variations (3 or 7 matches) reduce </a:t>
            </a:r>
            <a:r>
              <a:rPr lang="en-US" sz="2400" b="1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accuracy by approximately 4%</a:t>
            </a:r>
          </a:p>
          <a:p>
            <a:pPr marL="342900" lvl="0" indent="-342900" algn="just">
              <a:lnSpc>
                <a:spcPts val="27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Raw features with </a:t>
            </a:r>
            <a:r>
              <a:rPr lang="en-US" sz="2400" b="1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data leakage artificially boost accuracy +7.1% (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Hence the shift by 1 in the rolling matches</a:t>
            </a:r>
            <a:r>
              <a:rPr lang="en-US" sz="2400" b="1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0779" y="1008231"/>
            <a:ext cx="6062578" cy="298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84"/>
              </a:lnSpc>
              <a:spcBef>
                <a:spcPct val="0"/>
              </a:spcBef>
            </a:pPr>
            <a:r>
              <a:rPr lang="en-US" sz="7784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Ablation Study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74085" y="5503741"/>
            <a:ext cx="5375480" cy="33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Feature Removal Impact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89385" y="5503741"/>
            <a:ext cx="5375480" cy="33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398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Window &amp; Baseline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B90E1-A1A2-1FFC-D3E6-579FB9CE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765A1F-20F3-2E7A-A1DE-DB044C1A5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447800"/>
            <a:ext cx="14097000" cy="73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19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35993" y="5159829"/>
            <a:ext cx="6501545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279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Mean Accuracy: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55.4% vs 42.5%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baseline, consistently outperforming across all competitions</a:t>
            </a:r>
          </a:p>
          <a:p>
            <a:pPr marL="342900" lvl="0" indent="-342900">
              <a:lnSpc>
                <a:spcPts val="279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Mean ROC-AUC: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0.704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marL="342900" lvl="0" indent="-342900">
              <a:lnSpc>
                <a:spcPts val="279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Strongest Performance: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La Liga (65% accuracy, AUC 0.796) 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marL="342900" lvl="0" indent="-342900">
              <a:lnSpc>
                <a:spcPts val="279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Weakest Performance: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AFCON (45% accuracy, AUC 0.562).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893" y="1424533"/>
            <a:ext cx="6501545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612"/>
              </a:lnSpc>
              <a:spcBef>
                <a:spcPct val="0"/>
              </a:spcBef>
            </a:pPr>
            <a:r>
              <a:rPr lang="en-US" sz="7200" b="1" dirty="0">
                <a:latin typeface="Proxima Nova" panose="020B0604020202020204" charset="0"/>
              </a:rPr>
              <a:t>Draw Trade-off Analysis</a:t>
            </a:r>
            <a:endParaRPr lang="en-US" sz="6612" b="1" u="none" strike="noStrike" dirty="0">
              <a:solidFill>
                <a:srgbClr val="000000"/>
              </a:solidFill>
              <a:latin typeface="Proxima Nova" panose="020B0604020202020204" charset="0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3A5BD0A9-D083-DC43-D444-C4A98F7E9121}"/>
              </a:ext>
            </a:extLst>
          </p:cNvPr>
          <p:cNvSpPr txBox="1"/>
          <p:nvPr/>
        </p:nvSpPr>
        <p:spPr>
          <a:xfrm>
            <a:off x="6858000" y="1617021"/>
            <a:ext cx="10949958" cy="726028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8A3F11-E6B2-A55D-94CA-5082D5912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928" y="1513360"/>
            <a:ext cx="10949958" cy="7260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7C0A-6A58-0B31-4D1C-334D2684F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4D0036D-7681-6398-1DA8-0B164CE2CBA2}"/>
              </a:ext>
            </a:extLst>
          </p:cNvPr>
          <p:cNvSpPr txBox="1"/>
          <p:nvPr/>
        </p:nvSpPr>
        <p:spPr>
          <a:xfrm>
            <a:off x="480042" y="5572389"/>
            <a:ext cx="6501545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279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Mean Accuracy: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55.4% vs 42.5%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baseline, consistently outperforming across all competitions</a:t>
            </a:r>
          </a:p>
          <a:p>
            <a:pPr marL="342900" lvl="0" indent="-342900">
              <a:lnSpc>
                <a:spcPts val="279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Mean ROC-AUC: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0.704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marL="342900" lvl="0" indent="-342900">
              <a:lnSpc>
                <a:spcPts val="279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Strongest Performance: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La Liga (65% accuracy, AUC 0.796) 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marL="342900" lvl="0" indent="-342900">
              <a:lnSpc>
                <a:spcPts val="279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Weakest Performance: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AFCON (45% accuracy, AUC 0.562).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2EFC3FC-8621-C638-C564-BD3E5BF38B92}"/>
              </a:ext>
            </a:extLst>
          </p:cNvPr>
          <p:cNvSpPr txBox="1"/>
          <p:nvPr/>
        </p:nvSpPr>
        <p:spPr>
          <a:xfrm>
            <a:off x="480042" y="1320313"/>
            <a:ext cx="6090065" cy="3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12"/>
              </a:lnSpc>
              <a:spcBef>
                <a:spcPct val="0"/>
              </a:spcBef>
            </a:pPr>
            <a:r>
              <a:rPr lang="en-US" sz="6612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LOCO Generalization: Performance on Unseen Teams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C7D5BC-90D7-C070-1E4C-2C527E3C3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714500"/>
            <a:ext cx="104683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81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5753100"/>
            <a:ext cx="5410200" cy="3254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Sim2Win demonstrates clear superiority with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0.704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mean AUC, significantly outperforming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ELO-G (0.567), Pi-Rating (0.551), 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and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GAP (0.548). 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 validated across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21/21 AUC 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comparisons and </a:t>
            </a:r>
            <a:r>
              <a:rPr lang="en-US" sz="2400" b="1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19/21 </a:t>
            </a:r>
            <a:r>
              <a:rPr lang="en-US" sz="24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accuracy comparisons</a:t>
            </a:r>
            <a:r>
              <a:rPr lang="en-US" sz="1998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2027" y="48986"/>
            <a:ext cx="10126765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994"/>
              </a:lnSpc>
              <a:spcBef>
                <a:spcPct val="0"/>
              </a:spcBef>
            </a:pPr>
            <a:r>
              <a:rPr lang="en-US" sz="7200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Comparison Against Traditional Rating Systems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027" y="5143500"/>
            <a:ext cx="5060610" cy="33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  <a:spcBef>
                <a:spcPct val="0"/>
              </a:spcBef>
            </a:pPr>
            <a:r>
              <a:rPr lang="en-US" sz="2398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Sim2Win vs Identity-Based Systems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3BA575-03E4-FCD2-60A1-9B53729B5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62200"/>
            <a:ext cx="118872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B309B-78E4-4E95-BB5C-D60539AA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77628"/>
            <a:ext cx="18288000" cy="11048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7DFB05C-FBB7-508C-D3F5-3C8A7C7166D5}"/>
              </a:ext>
            </a:extLst>
          </p:cNvPr>
          <p:cNvSpPr txBox="1"/>
          <p:nvPr/>
        </p:nvSpPr>
        <p:spPr>
          <a:xfrm>
            <a:off x="735805" y="1016412"/>
            <a:ext cx="16816387" cy="1117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none" strike="noStrike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Proxima Nova Bold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FC44F-F94A-364E-BCA9-9802D71DF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367643"/>
            <a:ext cx="18288000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64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44735" y="-156985"/>
            <a:ext cx="10998529" cy="139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30"/>
              </a:lnSpc>
            </a:pPr>
            <a:r>
              <a:rPr lang="en-US" sz="3600" b="1" dirty="0">
                <a:latin typeface="Proxima Nova Bold"/>
                <a:ea typeface="Proxima Nova Bold"/>
                <a:cs typeface="Proxima Nova Bold"/>
                <a:sym typeface="Proxima Nova Bold"/>
              </a:rPr>
              <a:t>LIVE DEMONSTRATION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10439400" y="6976071"/>
            <a:ext cx="8922274" cy="6456482"/>
          </a:xfrm>
          <a:custGeom>
            <a:avLst/>
            <a:gdLst/>
            <a:ahLst/>
            <a:cxnLst/>
            <a:rect l="l" t="t" r="r" b="b"/>
            <a:pathLst>
              <a:path w="8922274" h="6456482">
                <a:moveTo>
                  <a:pt x="0" y="0"/>
                </a:moveTo>
                <a:lnTo>
                  <a:pt x="8922274" y="0"/>
                </a:lnTo>
                <a:lnTo>
                  <a:pt x="8922274" y="6456482"/>
                </a:lnTo>
                <a:lnTo>
                  <a:pt x="0" y="6456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895600" y="-2943756"/>
            <a:ext cx="6294819" cy="6294819"/>
          </a:xfrm>
          <a:custGeom>
            <a:avLst/>
            <a:gdLst/>
            <a:ahLst/>
            <a:cxnLst/>
            <a:rect l="l" t="t" r="r" b="b"/>
            <a:pathLst>
              <a:path w="6294819" h="6294819">
                <a:moveTo>
                  <a:pt x="0" y="0"/>
                </a:moveTo>
                <a:lnTo>
                  <a:pt x="6294819" y="0"/>
                </a:lnTo>
                <a:lnTo>
                  <a:pt x="6294819" y="6294819"/>
                </a:lnTo>
                <a:lnTo>
                  <a:pt x="0" y="6294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769217" y="203653"/>
            <a:ext cx="8457083" cy="335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8"/>
              </a:lnSpc>
            </a:pPr>
            <a:r>
              <a:rPr lang="en-US" sz="2398" dirty="0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Proof of Concept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722169" y="5650144"/>
            <a:ext cx="1009199" cy="84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95"/>
              </a:lnSpc>
              <a:spcBef>
                <a:spcPct val="0"/>
              </a:spcBef>
            </a:pPr>
            <a:r>
              <a:rPr lang="en-US" sz="6395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37469" y="5650144"/>
            <a:ext cx="1009199" cy="84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95"/>
              </a:lnSpc>
              <a:spcBef>
                <a:spcPct val="0"/>
              </a:spcBef>
            </a:pPr>
            <a:r>
              <a:rPr lang="en-US" sz="6395">
                <a:solidFill>
                  <a:srgbClr val="FAFAFA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4800" y="4262203"/>
            <a:ext cx="6471557" cy="5089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</a:t>
            </a: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 </a:t>
            </a:r>
            <a:r>
              <a:rPr lang="en-US" sz="28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Size is Small in contrast with modern Football Demand.</a:t>
            </a:r>
            <a:endParaRPr lang="en-US" sz="2800" u="none" strike="noStrike" spc="-39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Draw prediction remains challenging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Missing finer context (injuries, weather)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Aggregate stats lose spatial/temporal detail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•Missing dynamic in</a:t>
            </a:r>
            <a:r>
              <a:rPr lang="fr-FR" sz="28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-match </a:t>
            </a:r>
            <a:r>
              <a:rPr lang="fr-FR" sz="2800" spc="-39" dirty="0" err="1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dynamic</a:t>
            </a:r>
            <a:r>
              <a:rPr lang="fr-FR" sz="28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fr-FR" sz="2800" spc="-39" dirty="0" err="1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tactical</a:t>
            </a:r>
            <a:r>
              <a:rPr lang="fr-FR" sz="2800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 shifts data.</a:t>
            </a:r>
            <a:endParaRPr lang="en-US" sz="2800" u="none" strike="noStrike" spc="-39" dirty="0">
              <a:solidFill>
                <a:srgbClr val="1C191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112711" y="201499"/>
            <a:ext cx="6062578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994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Limitations &amp; Future 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300818-B151-9083-4A0C-AB8DA417C7C3}"/>
              </a:ext>
            </a:extLst>
          </p:cNvPr>
          <p:cNvSpPr txBox="1"/>
          <p:nvPr/>
        </p:nvSpPr>
        <p:spPr>
          <a:xfrm>
            <a:off x="304800" y="3297452"/>
            <a:ext cx="2509157" cy="96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7994"/>
              </a:lnSpc>
              <a:spcBef>
                <a:spcPct val="0"/>
              </a:spcBef>
            </a:pPr>
            <a:r>
              <a:rPr lang="en-US" sz="3600" b="1" u="none" strike="noStrike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Limitations</a:t>
            </a:r>
            <a:r>
              <a:rPr lang="en-US" sz="1800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D5AE4CEE-ADA8-43B6-284C-7A23F6EA28DE}"/>
              </a:ext>
            </a:extLst>
          </p:cNvPr>
          <p:cNvSpPr txBox="1"/>
          <p:nvPr/>
        </p:nvSpPr>
        <p:spPr>
          <a:xfrm>
            <a:off x="11049000" y="3779827"/>
            <a:ext cx="6400800" cy="35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3600" b="1" dirty="0">
                <a:solidFill>
                  <a:srgbClr val="000000"/>
                </a:solidFill>
                <a:latin typeface="Proxima Nova" panose="020B0604020202020204" charset="0"/>
                <a:ea typeface="Proxima Nova Bold"/>
                <a:cs typeface="Proxima Nova Bold"/>
                <a:sym typeface="Proxima Nova Bold"/>
              </a:rPr>
              <a:t>Future Research Directions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3F8C1357-7D61-9855-02B0-D90E37882022}"/>
              </a:ext>
            </a:extLst>
          </p:cNvPr>
          <p:cNvSpPr txBox="1"/>
          <p:nvPr/>
        </p:nvSpPr>
        <p:spPr>
          <a:xfrm>
            <a:off x="11049000" y="4262203"/>
            <a:ext cx="7072977" cy="5089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Expand dataset balance and seasons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Integrate multimodal data (heatmaps, tracking).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Hybrid modeling combining ratings and tactics.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Improved draw prediction methods.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u="none" strike="noStrike" spc="-39" dirty="0">
                <a:solidFill>
                  <a:srgbClr val="1C191A"/>
                </a:solidFill>
                <a:latin typeface="Proxima Nova"/>
                <a:ea typeface="Proxima Nova"/>
                <a:cs typeface="Proxima Nova"/>
                <a:sym typeface="Proxima Nova"/>
              </a:rPr>
              <a:t>• Add contextual enrichment (player, weather, referee).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9733F-1249-2231-E819-792D47E5EEB1}"/>
              </a:ext>
            </a:extLst>
          </p:cNvPr>
          <p:cNvSpPr/>
          <p:nvPr/>
        </p:nvSpPr>
        <p:spPr>
          <a:xfrm>
            <a:off x="7086600" y="2628900"/>
            <a:ext cx="3477040" cy="76726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1720256" cy="8722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0256" cy="872242"/>
            </a:xfrm>
            <a:custGeom>
              <a:avLst/>
              <a:gdLst/>
              <a:ahLst/>
              <a:cxnLst/>
              <a:rect l="l" t="t" r="r" b="b"/>
              <a:pathLst>
                <a:path w="1720256" h="872242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869261"/>
                  </a:lnTo>
                  <a:cubicBezTo>
                    <a:pt x="1720256" y="870052"/>
                    <a:pt x="1719942" y="870810"/>
                    <a:pt x="1719383" y="871369"/>
                  </a:cubicBezTo>
                  <a:cubicBezTo>
                    <a:pt x="1718824" y="871928"/>
                    <a:pt x="1718065" y="872242"/>
                    <a:pt x="1717275" y="872242"/>
                  </a:cubicBezTo>
                  <a:lnTo>
                    <a:pt x="2981" y="872242"/>
                  </a:lnTo>
                  <a:cubicBezTo>
                    <a:pt x="2191" y="872242"/>
                    <a:pt x="1432" y="871928"/>
                    <a:pt x="873" y="871369"/>
                  </a:cubicBezTo>
                  <a:cubicBezTo>
                    <a:pt x="314" y="870810"/>
                    <a:pt x="0" y="870052"/>
                    <a:pt x="0" y="869261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20256" cy="910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745991" y="1898960"/>
            <a:ext cx="7486517" cy="625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70"/>
              </a:lnSpc>
              <a:spcBef>
                <a:spcPct val="0"/>
              </a:spcBef>
            </a:pPr>
            <a:r>
              <a:rPr lang="en-US" sz="4770" b="1" u="none" strike="noStrike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 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F6E13D4-0107-1DA3-C74D-004B17F4DCAD}"/>
              </a:ext>
            </a:extLst>
          </p:cNvPr>
          <p:cNvSpPr txBox="1"/>
          <p:nvPr/>
        </p:nvSpPr>
        <p:spPr>
          <a:xfrm>
            <a:off x="1880718" y="3240652"/>
            <a:ext cx="15217065" cy="4457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latin typeface="Proxima Nova" panose="020B0604020202020204" charset="0"/>
              </a:rPr>
              <a:t>In the high-stakes theater of modern football, the margin between victory and heartbreak is often a single tactical pivot. </a:t>
            </a:r>
            <a:r>
              <a:rPr lang="en-US" sz="2800" b="1" dirty="0">
                <a:latin typeface="Proxima Nova" panose="020B0604020202020204" charset="0"/>
              </a:rPr>
              <a:t>Sim2Win</a:t>
            </a:r>
            <a:r>
              <a:rPr lang="en-US" sz="2800" dirty="0">
                <a:latin typeface="Proxima Nova" panose="020B0604020202020204" charset="0"/>
              </a:rPr>
              <a:t> was born from the vision to replace gut feeling with ground truth. 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endParaRPr lang="en-US" sz="2800" dirty="0">
              <a:latin typeface="Proxima Nova" panose="020B0604020202020204" charset="0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latin typeface="Proxima Nova" panose="020B0604020202020204" charset="0"/>
              </a:rPr>
              <a:t>As we move from pre-match simulations to the future of real-time spatial intelligence, Sim2Win stands as a definitive proof that the beautiful game is no longer just played on grass.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endParaRPr lang="en-US" sz="2800" dirty="0">
              <a:latin typeface="Proxima Nova" panose="020B0604020202020204" charset="0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latin typeface="Proxima Nova" panose="020B0604020202020204" charset="0"/>
              </a:rPr>
              <a:t>In ninety minutes of chaos, the data provides the evidence, but </a:t>
            </a:r>
            <a:r>
              <a:rPr lang="en-US" sz="2800" b="1" dirty="0">
                <a:latin typeface="Proxima Nova" panose="020B0604020202020204" charset="0"/>
              </a:rPr>
              <a:t>Sim2Win provides the edge.</a:t>
            </a:r>
            <a:endParaRPr lang="en-US" sz="2400" dirty="0">
              <a:latin typeface="Proxima Nova" panose="020B060402020202020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5458" y="3542330"/>
            <a:ext cx="8457083" cy="310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91"/>
              </a:lnSpc>
            </a:pPr>
            <a:r>
              <a:rPr lang="en-US" sz="11991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76299" y="8929772"/>
            <a:ext cx="4883001" cy="25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09"/>
              </a:lnSpc>
            </a:pPr>
            <a:r>
              <a:rPr lang="en-US" sz="1735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May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929772"/>
            <a:ext cx="8457083" cy="25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09"/>
              </a:lnSpc>
            </a:pPr>
            <a:r>
              <a:rPr lang="en-US" sz="1735" dirty="0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github.com/Mouad-Ze/SIM2WIN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028700"/>
            <a:ext cx="666780" cy="690638"/>
          </a:xfrm>
          <a:custGeom>
            <a:avLst/>
            <a:gdLst/>
            <a:ahLst/>
            <a:cxnLst/>
            <a:rect l="l" t="t" r="r" b="b"/>
            <a:pathLst>
              <a:path w="666780" h="690638">
                <a:moveTo>
                  <a:pt x="0" y="0"/>
                </a:moveTo>
                <a:lnTo>
                  <a:pt x="666780" y="0"/>
                </a:lnTo>
                <a:lnTo>
                  <a:pt x="666780" y="690638"/>
                </a:lnTo>
                <a:lnTo>
                  <a:pt x="0" y="690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279328" y="9050332"/>
            <a:ext cx="1063701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915458" y="6707166"/>
            <a:ext cx="8457083" cy="28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82"/>
              </a:lnSpc>
            </a:pPr>
            <a:r>
              <a:rPr lang="en-US" sz="1983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Questions? Let's discuss Sim2Win.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542" y="1263497"/>
            <a:ext cx="2484104" cy="30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6"/>
              </a:lnSpc>
            </a:pPr>
            <a:r>
              <a:rPr lang="en-US" sz="2398" b="1">
                <a:solidFill>
                  <a:srgbClr val="0B13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Mouad Zemzoumi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1852</Words>
  <Application>Microsoft Office PowerPoint</Application>
  <PresentationFormat>Custom</PresentationFormat>
  <Paragraphs>364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Proxima Nova</vt:lpstr>
      <vt:lpstr>Calibri</vt:lpstr>
      <vt:lpstr>Proxima Nova Bold</vt:lpstr>
      <vt:lpstr>Arial</vt:lpstr>
      <vt:lpstr>Aptos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Sim2Win: Tactical Pre-Match Recommendation System</dc:title>
  <cp:lastModifiedBy>Mouad Zemzoumi &lt; 119509 &gt;</cp:lastModifiedBy>
  <cp:revision>47</cp:revision>
  <dcterms:created xsi:type="dcterms:W3CDTF">2006-08-16T00:00:00Z</dcterms:created>
  <dcterms:modified xsi:type="dcterms:W3CDTF">2026-04-27T10:07:41Z</dcterms:modified>
  <dc:identifier>DAHHfe3K7CM</dc:identifier>
</cp:coreProperties>
</file>